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800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-3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3-4.svg"/><Relationship Id="rId5" Type="http://schemas.openxmlformats.org/officeDocument/2006/relationships/image" Target="../media/image4.pn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4-4.svg"/><Relationship Id="rId5" Type="http://schemas.openxmlformats.org/officeDocument/2006/relationships/image" Target="../media/image6.png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8.svg"/><Relationship Id="rId3" Type="http://schemas.openxmlformats.org/officeDocument/2006/relationships/image" Target="../media/image11.png"/><Relationship Id="rId7" Type="http://schemas.openxmlformats.org/officeDocument/2006/relationships/image" Target="../media/image-7-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7-4.svg"/><Relationship Id="rId5" Type="http://schemas.openxmlformats.org/officeDocument/2006/relationships/image" Target="../media/image12.pn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9-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-10-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8.png"/><Relationship Id="rId5" Type="http://schemas.openxmlformats.org/officeDocument/2006/relationships/image" Target="../media/image-10-5.svg"/><Relationship Id="rId10" Type="http://schemas.openxmlformats.org/officeDocument/2006/relationships/image" Target="../media/image17.png"/><Relationship Id="rId4" Type="http://schemas.openxmlformats.org/officeDocument/2006/relationships/image" Target="../media/image-10-3.svg"/><Relationship Id="rId9" Type="http://schemas.openxmlformats.org/officeDocument/2006/relationships/image" Target="../media/image-10-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89372"/>
            <a:ext cx="407915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State &amp; Events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344960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Building Interactive Components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78033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 already know JSX, Components, and Props. Now let's bring them to life — with state to remember data and events to respond to users.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25119" y="3393430"/>
            <a:ext cx="4722763" cy="10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manage dynamic data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 clicks, inputs, and form submissions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Render UI conditionally based on state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three real mini-projects from scratch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722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State Makes Components Interactive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770831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Props flow one way — parent to child. But components also need to remember things: a counter value, a form field, a toggle. That's what state is for.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610743"/>
            <a:ext cx="4722763" cy="1860500"/>
          </a:xfrm>
          <a:prstGeom prst="roundRect">
            <a:avLst>
              <a:gd name="adj" fmla="val 1143"/>
            </a:avLst>
          </a:prstGeom>
          <a:solidFill>
            <a:srgbClr val="F9F7F7"/>
          </a:solidFill>
          <a:ln/>
        </p:spPr>
      </p:sp>
      <p:sp>
        <p:nvSpPr>
          <p:cNvPr id="6" name="Shape 3"/>
          <p:cNvSpPr/>
          <p:nvPr/>
        </p:nvSpPr>
        <p:spPr>
          <a:xfrm>
            <a:off x="496119" y="2610743"/>
            <a:ext cx="2361381" cy="1043657"/>
          </a:xfrm>
          <a:prstGeom prst="roundRect">
            <a:avLst>
              <a:gd name="adj" fmla="val 2038"/>
            </a:avLst>
          </a:prstGeom>
          <a:solidFill>
            <a:srgbClr val="F9F7F7"/>
          </a:solidFill>
          <a:ln/>
        </p:spPr>
      </p:sp>
      <p:sp>
        <p:nvSpPr>
          <p:cNvPr id="7" name="Text 4"/>
          <p:cNvSpPr/>
          <p:nvPr/>
        </p:nvSpPr>
        <p:spPr>
          <a:xfrm>
            <a:off x="637877" y="27525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Props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7877" y="3059013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Passed in from a parent. Read-only. Define configuration.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57500" y="2610743"/>
            <a:ext cx="2361381" cy="1043657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0" name="Shape 7"/>
          <p:cNvSpPr/>
          <p:nvPr/>
        </p:nvSpPr>
        <p:spPr>
          <a:xfrm>
            <a:off x="2857500" y="2610743"/>
            <a:ext cx="19050" cy="1043657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2999259" y="27525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999259" y="3059013"/>
            <a:ext cx="207786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Managed internally. Mutable via setters. Drives re-renders.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3654400"/>
            <a:ext cx="4722763" cy="816843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96119" y="3654400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637877" y="379615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Events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37877" y="4102671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User actions that trigger state changes. Clicks, typing, submits.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10021"/>
            <a:ext cx="3890590" cy="486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</a:t>
            </a:r>
            <a:r>
              <a:rPr lang="en-US" sz="27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</a:t>
            </a:r>
            <a:r>
              <a:rPr lang="en-US" sz="2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Hook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245468"/>
            <a:ext cx="3923854" cy="2654126"/>
          </a:xfrm>
          <a:prstGeom prst="roundRect">
            <a:avLst>
              <a:gd name="adj" fmla="val 776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473794" y="1245468"/>
            <a:ext cx="3937546" cy="2654126"/>
          </a:xfrm>
          <a:prstGeom prst="roundRect">
            <a:avLst>
              <a:gd name="adj" fmla="val 776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645393" y="1382762"/>
            <a:ext cx="3594348" cy="237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onClick={() =&gt; setCount(count + 1)}&gt;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Count: {count}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&lt;/button&gt;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50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44269" y="1228799"/>
            <a:ext cx="21738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Breaking It Down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725219" y="1592982"/>
            <a:ext cx="3942904" cy="9146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57763" y="1749326"/>
            <a:ext cx="1716658" cy="243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useState(0)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57763" y="2125414"/>
            <a:ext cx="3554016" cy="2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Initial value is </a:t>
            </a:r>
            <a:r>
              <a:rPr lang="en-US" sz="10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Can be any type.</a:t>
            </a:r>
            <a:endParaRPr lang="en-US" sz="10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725219" y="2640583"/>
            <a:ext cx="3942904" cy="9050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57763" y="2796927"/>
            <a:ext cx="1716658" cy="243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957763" y="3173016"/>
            <a:ext cx="355401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Current state value. Read it, don't mutate it.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725219" y="3678659"/>
            <a:ext cx="3942904" cy="9050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7763" y="3835003"/>
            <a:ext cx="1716658" cy="243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957763" y="4211092"/>
            <a:ext cx="355401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Updates state and triggers a re-render.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6517"/>
            <a:ext cx="41758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React Event Handling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5302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events mirror DOM events but use camelCase and pass functions, not strings.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96119" y="1939305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00002"/>
            <a:ext cx="177202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onClick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35089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Triggers on button or element click.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121372"/>
            <a:ext cx="2599134" cy="51033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89049" y="3121372"/>
            <a:ext cx="2613273" cy="51033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66229" y="3263131"/>
            <a:ext cx="22589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onClick={() =&gt; setCount(c + 1)}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272433" y="1939305"/>
            <a:ext cx="283518" cy="283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72433" y="2400002"/>
            <a:ext cx="177202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72433" y="2735089"/>
            <a:ext cx="259913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Fires on every input change. Use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e.target.value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72433" y="3352949"/>
            <a:ext cx="2599134" cy="737146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3265363" y="3352949"/>
            <a:ext cx="2613273" cy="737146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3442543" y="3494708"/>
            <a:ext cx="225891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onChange={(e) =&gt; setName(e.target.value)}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048747" y="1939305"/>
            <a:ext cx="283518" cy="283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48747" y="2400002"/>
            <a:ext cx="1772022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048747" y="2735089"/>
            <a:ext cx="2599134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Handles form submission. Always call </a:t>
            </a:r>
            <a:r>
              <a:rPr lang="en-US" sz="11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048747" y="3352949"/>
            <a:ext cx="2599134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041678" y="3352949"/>
            <a:ext cx="2613273" cy="96396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21" name="Text 16"/>
          <p:cNvSpPr/>
          <p:nvPr/>
        </p:nvSpPr>
        <p:spPr>
          <a:xfrm>
            <a:off x="6218858" y="3494708"/>
            <a:ext cx="225891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onSubmit={(e) =&gt; { e.preventDefault(); handleSubmit(); }}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355029"/>
            <a:ext cx="4979938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Controlled Inputs &amp; Form State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43" y="1364605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7905" y="964853"/>
            <a:ext cx="244986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Is a Controlled Input?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77905" y="1245468"/>
            <a:ext cx="2649066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React state is the </a:t>
            </a: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source of truth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the input's value. The UI always reflects state.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977905" y="1698129"/>
            <a:ext cx="2649066" cy="2294781"/>
          </a:xfrm>
          <a:prstGeom prst="roundRect">
            <a:avLst>
              <a:gd name="adj" fmla="val 767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5972101" y="1698129"/>
            <a:ext cx="2660675" cy="2294781"/>
          </a:xfrm>
          <a:prstGeom prst="roundRect">
            <a:avLst>
              <a:gd name="adj" fmla="val 767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118845" y="1815480"/>
            <a:ext cx="2367186" cy="2060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LoginForm() {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[email, setEmail] = useState('');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value={email}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onChange={(e) =&gt; setEmail(e.target.value)}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placeholder="Enter email"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77905" y="4102224"/>
            <a:ext cx="2649066" cy="576858"/>
          </a:xfrm>
          <a:prstGeom prst="roundRect">
            <a:avLst>
              <a:gd name="adj" fmla="val 3053"/>
            </a:avLst>
          </a:prstGeom>
          <a:solidFill>
            <a:srgbClr val="B6D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256" y="4274790"/>
            <a:ext cx="146745" cy="117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9351" y="4218980"/>
            <a:ext cx="215026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</a:t>
            </a: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prop ties the input to state. Without it, the input is </a:t>
            </a:r>
            <a:r>
              <a:rPr lang="en-US" sz="900" i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uncontrolled</a:t>
            </a: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338584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Conditional Rendering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Show or hide UI based on state using JavaScript expressions directly inside JSX.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03759" y="2015207"/>
            <a:ext cx="178623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Logical AND </a:t>
            </a:r>
            <a:r>
              <a:rPr lang="en-US" sz="10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03759" y="2284809"/>
            <a:ext cx="399566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Render right side only when left is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03759" y="2528069"/>
            <a:ext cx="3538463" cy="361355"/>
          </a:xfrm>
          <a:prstGeom prst="roundRect">
            <a:avLst>
              <a:gd name="adj" fmla="val 4414"/>
            </a:avLst>
          </a:prstGeom>
          <a:solidFill>
            <a:srgbClr val="F2F2F2"/>
          </a:solidFill>
          <a:ln/>
        </p:spPr>
      </p:sp>
      <p:sp>
        <p:nvSpPr>
          <p:cNvPr id="7" name="Shape 5"/>
          <p:cNvSpPr/>
          <p:nvPr/>
        </p:nvSpPr>
        <p:spPr>
          <a:xfrm>
            <a:off x="898475" y="2528069"/>
            <a:ext cx="3549030" cy="361355"/>
          </a:xfrm>
          <a:prstGeom prst="roundRect">
            <a:avLst>
              <a:gd name="adj" fmla="val 4414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1031379" y="2634332"/>
            <a:ext cx="374042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{isLoggedIn &amp;&amp; &lt;Dashboard /&gt;}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03759" y="2979093"/>
            <a:ext cx="1786235" cy="189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Ternary Operator </a:t>
            </a:r>
            <a:r>
              <a:rPr lang="en-US" sz="10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 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03759" y="3248695"/>
            <a:ext cx="39956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Choose between two options.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03759" y="3487192"/>
            <a:ext cx="3538463" cy="361355"/>
          </a:xfrm>
          <a:prstGeom prst="roundRect">
            <a:avLst>
              <a:gd name="adj" fmla="val 4414"/>
            </a:avLst>
          </a:prstGeom>
          <a:solidFill>
            <a:srgbClr val="F2F2F2"/>
          </a:solidFill>
          <a:ln/>
        </p:spPr>
      </p:sp>
      <p:sp>
        <p:nvSpPr>
          <p:cNvPr id="12" name="Shape 10"/>
          <p:cNvSpPr/>
          <p:nvPr/>
        </p:nvSpPr>
        <p:spPr>
          <a:xfrm>
            <a:off x="898475" y="3487192"/>
            <a:ext cx="3549030" cy="361355"/>
          </a:xfrm>
          <a:prstGeom prst="roundRect">
            <a:avLst>
              <a:gd name="adj" fmla="val 4414"/>
            </a:avLst>
          </a:prstGeom>
          <a:solidFill>
            <a:srgbClr val="F2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31379" y="3593455"/>
            <a:ext cx="374042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{count &gt; 0 ? &lt;span&gt;{count}&lt;/span&gt; : &lt;span&gt;Zero&lt;/span&gt;}</a:t>
            </a:r>
            <a:endParaRPr lang="en-US" sz="8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392" y="1167631"/>
            <a:ext cx="3538463" cy="3538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219" y="347960"/>
            <a:ext cx="1028105" cy="212824"/>
          </a:xfrm>
          <a:prstGeom prst="roundRect">
            <a:avLst>
              <a:gd name="adj" fmla="val 6745"/>
            </a:avLst>
          </a:prstGeom>
          <a:solidFill>
            <a:srgbClr val="F3E3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16954" y="406524"/>
            <a:ext cx="95622" cy="95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0350" y="383828"/>
            <a:ext cx="1198438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 PROJECT 1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5219" y="601117"/>
            <a:ext cx="3868192" cy="402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🔢</a:t>
            </a: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Counter Application</a:t>
            </a:r>
            <a:endParaRPr lang="en-US" sz="2350" dirty="0"/>
          </a:p>
        </p:txBody>
      </p:sp>
      <p:sp>
        <p:nvSpPr>
          <p:cNvPr id="6" name="Shape 3"/>
          <p:cNvSpPr/>
          <p:nvPr/>
        </p:nvSpPr>
        <p:spPr>
          <a:xfrm>
            <a:off x="445219" y="1268313"/>
            <a:ext cx="3980780" cy="3413671"/>
          </a:xfrm>
          <a:prstGeom prst="roundRect">
            <a:avLst>
              <a:gd name="adj" fmla="val 526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439266" y="1268313"/>
            <a:ext cx="3992687" cy="3413671"/>
          </a:xfrm>
          <a:prstGeom prst="roundRect">
            <a:avLst>
              <a:gd name="adj" fmla="val 52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588764" y="1387897"/>
            <a:ext cx="3693691" cy="3174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&lt;h2&gt;Count: {count}&lt;/h2&gt;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+ 1)}&gt;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+ Increment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setCount(count - 1)}&gt;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− Decrement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setCount(0)}&gt;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Reset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722614" y="1255737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You'll Practice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767411" y="1561951"/>
            <a:ext cx="179412" cy="1794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11279" y="1556072"/>
            <a:ext cx="3592116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Initialize state with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useState(0)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4767411" y="2128465"/>
            <a:ext cx="179412" cy="1794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11279" y="2122587"/>
            <a:ext cx="3592116" cy="181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 state with </a:t>
            </a:r>
            <a:r>
              <a:rPr lang="en-US" sz="9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setCount()</a:t>
            </a: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on button clicks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767411" y="2694980"/>
            <a:ext cx="179412" cy="1794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11279" y="2689101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Read current state to display the live count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767411" y="3261494"/>
            <a:ext cx="179412" cy="17941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11279" y="3255615"/>
            <a:ext cx="359211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multiple event handlers in one component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287164"/>
            <a:ext cx="761628" cy="145256"/>
          </a:xfrm>
          <a:prstGeom prst="roundRect">
            <a:avLst>
              <a:gd name="adj" fmla="val 7320"/>
            </a:avLst>
          </a:prstGeom>
          <a:solidFill>
            <a:srgbClr val="F3E3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68276" y="324371"/>
            <a:ext cx="70842" cy="708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74540" y="313730"/>
            <a:ext cx="1006301" cy="9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 PROJECT 2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1515145" y="454521"/>
            <a:ext cx="3413745" cy="2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👁️</a:t>
            </a: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Toggle Visibility Feature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515145" y="1528167"/>
            <a:ext cx="15647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Concept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515145" y="1721941"/>
            <a:ext cx="1999283" cy="350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boolean state (</a:t>
            </a:r>
            <a:r>
              <a:rPr lang="en-US" sz="6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/ </a:t>
            </a:r>
            <a:r>
              <a:rPr lang="en-US" sz="6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 controls whether content is shown. Click a button to flip the value.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1515145" y="2134567"/>
            <a:ext cx="1999283" cy="2020193"/>
          </a:xfrm>
          <a:prstGeom prst="roundRect">
            <a:avLst>
              <a:gd name="adj" fmla="val 665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1510754" y="2134567"/>
            <a:ext cx="2008063" cy="2020193"/>
          </a:xfrm>
          <a:prstGeom prst="roundRect">
            <a:avLst>
              <a:gd name="adj" fmla="val 662"/>
            </a:avLst>
          </a:prstGeom>
          <a:solidFill>
            <a:srgbClr val="F2F2F2"/>
          </a:solidFill>
          <a:ln/>
        </p:spPr>
      </p:sp>
      <p:sp>
        <p:nvSpPr>
          <p:cNvPr id="10" name="Text 7"/>
          <p:cNvSpPr/>
          <p:nvPr/>
        </p:nvSpPr>
        <p:spPr>
          <a:xfrm>
            <a:off x="1621482" y="2223120"/>
            <a:ext cx="1786607" cy="1843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Toggle() {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[isVisible, setIsVisible] = useState(false);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onClick={() =&gt; setIsVisible(!isVisible)}&gt;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{isVisible ? 'Hide' : 'Show'} Details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{isVisible &amp;&amp; (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&lt;p&gt;Here are the hidden details!&lt;/p&gt;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)}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6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288" y="895796"/>
            <a:ext cx="3898255" cy="3898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605" y="287536"/>
            <a:ext cx="876002" cy="173013"/>
          </a:xfrm>
          <a:prstGeom prst="roundRect">
            <a:avLst>
              <a:gd name="adj" fmla="val 7067"/>
            </a:avLst>
          </a:prstGeom>
          <a:solidFill>
            <a:srgbClr val="F3E3D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17699" y="333301"/>
            <a:ext cx="81483" cy="814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9887" y="318046"/>
            <a:ext cx="1088827" cy="111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MINI PROJECT 3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1056605" y="489793"/>
            <a:ext cx="4956870" cy="342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📋</a:t>
            </a: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User Form with Submit Handling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56605" y="941784"/>
            <a:ext cx="7030715" cy="3144738"/>
          </a:xfrm>
          <a:prstGeom prst="roundRect">
            <a:avLst>
              <a:gd name="adj" fmla="val 486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45" y="941784"/>
            <a:ext cx="7040835" cy="3144738"/>
          </a:xfrm>
          <a:prstGeom prst="roundRect">
            <a:avLst>
              <a:gd name="adj" fmla="val 48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178868" y="1043657"/>
            <a:ext cx="6786190" cy="294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UserForm()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[name, setName] = useState('');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[submitted, setSubmitted] = useState(false);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handleSubmit = (e) =&gt; {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e.preventDefault();        // Stop page reload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setSubmitted(true);        // Update state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&lt;form onSubmit={handleSubmit}&gt;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&lt;input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value={name}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onChange={(e) =&gt; setName(e.target.value)}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placeholder="Your name"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/&gt;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type="submit"&gt;Submit&lt;/button&gt;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{submitted &amp;&amp; &lt;p&gt;Thanks, {name}!&lt;/p&gt;}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&lt;/form&gt;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D73A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056605" y="4168899"/>
            <a:ext cx="2294706" cy="686991"/>
          </a:xfrm>
          <a:prstGeom prst="roundRect">
            <a:avLst>
              <a:gd name="adj" fmla="val 2225"/>
            </a:avLst>
          </a:prstGeom>
          <a:solidFill>
            <a:srgbClr val="F9F7F7"/>
          </a:solidFill>
          <a:ln/>
        </p:spPr>
      </p:sp>
      <p:sp>
        <p:nvSpPr>
          <p:cNvPr id="10" name="Text 7"/>
          <p:cNvSpPr/>
          <p:nvPr/>
        </p:nvSpPr>
        <p:spPr>
          <a:xfrm>
            <a:off x="1158478" y="427077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Controlled Input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58478" y="4473922"/>
            <a:ext cx="2090961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+ </a:t>
            </a: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onChange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keeps state in sync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424535" y="4168899"/>
            <a:ext cx="2294781" cy="686991"/>
          </a:xfrm>
          <a:prstGeom prst="roundRect">
            <a:avLst>
              <a:gd name="adj" fmla="val 2225"/>
            </a:avLst>
          </a:prstGeom>
          <a:solidFill>
            <a:srgbClr val="F9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3526408" y="427077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Prevent Default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6408" y="4473922"/>
            <a:ext cx="209103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e.preventDefault()</a:t>
            </a: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stops the browser reload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792539" y="4168899"/>
            <a:ext cx="2294781" cy="686991"/>
          </a:xfrm>
          <a:prstGeom prst="roundRect">
            <a:avLst>
              <a:gd name="adj" fmla="val 2225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5894412" y="4270772"/>
            <a:ext cx="1273671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Feedback State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94412" y="4473922"/>
            <a:ext cx="209103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second state tracks submission and shows a message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77853" y="329282"/>
            <a:ext cx="3717206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Summary &amp; Best Practices</a:t>
            </a:r>
            <a:endParaRPr lang="en-US" sz="1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777853" y="745852"/>
            <a:ext cx="5017294" cy="8460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26671" y="820564"/>
            <a:ext cx="119583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3891781" y="1144488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State drives the UI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891781" y="1342206"/>
            <a:ext cx="478943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Never mutate state directly — always use the setter.</a:t>
            </a:r>
            <a:endParaRPr lang="en-US" sz="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777853" y="1661964"/>
            <a:ext cx="5017294" cy="8460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26671" y="1736675"/>
            <a:ext cx="119583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3891781" y="2060600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One source of truth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3891781" y="2258318"/>
            <a:ext cx="478943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Keep form inputs controlled. State owns the value.</a:t>
            </a:r>
            <a:endParaRPr lang="en-US" sz="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777853" y="2578075"/>
            <a:ext cx="5017294" cy="8460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26671" y="2652787"/>
            <a:ext cx="119583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891781" y="2976711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Keep state minimal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3891781" y="3174429"/>
            <a:ext cx="478943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Derive values from existing state when possible.</a:t>
            </a:r>
            <a:endParaRPr lang="en-US" sz="7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777853" y="3494187"/>
            <a:ext cx="5017294" cy="8460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226671" y="3568898"/>
            <a:ext cx="119583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3891781" y="3892823"/>
            <a:ext cx="125782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Events are functions</a:t>
            </a:r>
            <a:endParaRPr lang="en-US" sz="950" dirty="0"/>
          </a:p>
        </p:txBody>
      </p:sp>
      <p:sp>
        <p:nvSpPr>
          <p:cNvPr id="19" name="Text 12"/>
          <p:cNvSpPr/>
          <p:nvPr/>
        </p:nvSpPr>
        <p:spPr>
          <a:xfrm>
            <a:off x="3891781" y="4090541"/>
            <a:ext cx="478943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Pass handlers as references, not strings. Use arrow functions for inline logic.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3777853" y="4419079"/>
            <a:ext cx="5017294" cy="316334"/>
          </a:xfrm>
          <a:prstGeom prst="roundRect">
            <a:avLst>
              <a:gd name="adj" fmla="val 4727"/>
            </a:avLst>
          </a:prstGeom>
          <a:solidFill>
            <a:srgbClr val="B6FCB8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77494" y="4551611"/>
            <a:ext cx="124569" cy="9964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101703" y="4506962"/>
            <a:ext cx="5042297" cy="140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Next up:</a:t>
            </a:r>
            <a:r>
              <a:rPr lang="en-US" sz="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Explore </a:t>
            </a:r>
            <a:r>
              <a:rPr lang="en-US" sz="7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</a:t>
            </a:r>
            <a:r>
              <a:rPr lang="en-US" sz="7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to sync state with APIs and side effects!</a:t>
            </a:r>
            <a:endParaRPr lang="en-US" sz="7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907</Words>
  <Application>Microsoft Office PowerPoint</Application>
  <PresentationFormat>On-screen Show (16:9)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Platypi Medium</vt:lpstr>
      <vt:lpstr>Source Serif 4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Avinash Dubakula</cp:lastModifiedBy>
  <cp:revision>6</cp:revision>
  <dcterms:created xsi:type="dcterms:W3CDTF">2026-06-09T09:27:55Z</dcterms:created>
  <dcterms:modified xsi:type="dcterms:W3CDTF">2026-06-09T09:38:35Z</dcterms:modified>
</cp:coreProperties>
</file>