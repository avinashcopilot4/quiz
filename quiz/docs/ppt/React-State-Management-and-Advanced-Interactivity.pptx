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Platypi Medium" panose="020B0604020202020204" charset="0"/>
      <p:regular r:id="rId18"/>
    </p:embeddedFont>
    <p:embeddedFont>
      <p:font typeface="Source Serif 4" panose="020B0604020202020204" charset="0"/>
      <p:regular r:id="rId19"/>
    </p:embeddedFont>
    <p:embeddedFont>
      <p:font typeface="Consolas" panose="020B0609020204030204" pitchFamily="49" charset="0"/>
      <p:regular r:id="rId20"/>
      <p:bold r:id="rId21"/>
      <p:italic r:id="rId22"/>
      <p:boldItalic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8777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-2-5.svg"/><Relationship Id="rId5" Type="http://schemas.openxmlformats.org/officeDocument/2006/relationships/image" Target="../media/image-2-3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-8-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-8-5.svg"/><Relationship Id="rId5" Type="http://schemas.openxmlformats.org/officeDocument/2006/relationships/image" Target="../media/image-8-3.svg"/><Relationship Id="rId4" Type="http://schemas.openxmlformats.org/officeDocument/2006/relationships/image" Target="../media/image8.png"/><Relationship Id="rId9" Type="http://schemas.openxmlformats.org/officeDocument/2006/relationships/image" Target="../media/image-8-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-9-7.svg"/><Relationship Id="rId3" Type="http://schemas.openxmlformats.org/officeDocument/2006/relationships/image" Target="../media/image9.png"/><Relationship Id="rId7" Type="http://schemas.openxmlformats.org/officeDocument/2006/relationships/image" Target="../media/image-9-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-9-3.svg"/><Relationship Id="rId4" Type="http://schemas.openxmlformats.org/officeDocument/2006/relationships/image" Target="../media/image10.png"/><Relationship Id="rId9" Type="http://schemas.openxmlformats.org/officeDocument/2006/relationships/image" Target="../media/image-9-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-10-6.svg"/><Relationship Id="rId5" Type="http://schemas.openxmlformats.org/officeDocument/2006/relationships/image" Target="../media/image-10-4.svg"/><Relationship Id="rId4" Type="http://schemas.openxmlformats.org/officeDocument/2006/relationships/image" Target="../media/image-10-2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4875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React State Management &amp; Advanced Interactivity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447330"/>
            <a:ext cx="4722763" cy="912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You've mastered the basics — Components, JSX, Props, and </a:t>
            </a:r>
            <a:r>
              <a:rPr lang="en-US" sz="11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 Now it's time to level up: deeper state patterns, smarter event handling, advanced forms, and the architecture behind every reactive UI.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523580"/>
            <a:ext cx="1498476" cy="266402"/>
          </a:xfrm>
          <a:prstGeom prst="roundRect">
            <a:avLst>
              <a:gd name="adj" fmla="val 6386"/>
            </a:avLst>
          </a:prstGeom>
          <a:solidFill>
            <a:srgbClr val="F3E3D8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566071"/>
            <a:ext cx="178556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REACT · INTERMEDIATE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065437" y="3518818"/>
            <a:ext cx="721965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3E251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155254" y="3566071"/>
            <a:ext cx="99953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10 TOPICS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62298" y="323329"/>
            <a:ext cx="389111" cy="154409"/>
          </a:xfrm>
          <a:prstGeom prst="roundRect">
            <a:avLst>
              <a:gd name="adj" fmla="val 7230"/>
            </a:avLst>
          </a:prstGeom>
          <a:solidFill>
            <a:srgbClr val="F3E3D8"/>
          </a:solidFill>
          <a:ln/>
        </p:spPr>
      </p:sp>
      <p:sp>
        <p:nvSpPr>
          <p:cNvPr id="3" name="Text 1"/>
          <p:cNvSpPr/>
          <p:nvPr/>
        </p:nvSpPr>
        <p:spPr>
          <a:xfrm>
            <a:off x="1418109" y="351234"/>
            <a:ext cx="734690" cy="9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TOPIC 1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362298" y="502146"/>
            <a:ext cx="4919514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State vs Props: Knowing the Difference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298" y="953095"/>
            <a:ext cx="3096220" cy="30962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90244" y="2316361"/>
            <a:ext cx="3096220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React follows unidirectional data flow — props flow </a:t>
            </a:r>
            <a:r>
              <a:rPr lang="en-US" sz="700" i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down</a:t>
            </a: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, events flow </a:t>
            </a:r>
            <a:r>
              <a:rPr lang="en-US" sz="700" i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up</a:t>
            </a: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 State lives inside a component; props are received from a parent.</a:t>
            </a:r>
            <a:endParaRPr lang="en-US" sz="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352773" y="4186684"/>
            <a:ext cx="3188717" cy="6334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93416" y="4289227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Use State When…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493416" y="4471169"/>
            <a:ext cx="2945532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component owns and manages its own changing data — form inputs, toggles, counters.</a:t>
            </a:r>
            <a:endParaRPr lang="en-US" sz="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592985" y="4186684"/>
            <a:ext cx="3188717" cy="63348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33627" y="4289227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Use Props When…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4733627" y="4471169"/>
            <a:ext cx="2945532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 is passed </a:t>
            </a:r>
            <a:r>
              <a:rPr lang="en-US" sz="700" i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down</a:t>
            </a: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from a parent — configuration, shared data, callbacks.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759" y="314176"/>
            <a:ext cx="444996" cy="182761"/>
          </a:xfrm>
          <a:prstGeom prst="roundRect">
            <a:avLst>
              <a:gd name="adj" fmla="val 6981"/>
            </a:avLst>
          </a:prstGeom>
          <a:solidFill>
            <a:srgbClr val="F3E3D8"/>
          </a:solidFill>
          <a:ln/>
        </p:spPr>
      </p:sp>
      <p:sp>
        <p:nvSpPr>
          <p:cNvPr id="3" name="Text 1"/>
          <p:cNvSpPr/>
          <p:nvPr/>
        </p:nvSpPr>
        <p:spPr>
          <a:xfrm>
            <a:off x="967532" y="346025"/>
            <a:ext cx="77465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TOPIC 2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3759" y="528786"/>
            <a:ext cx="409962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Triggers a Re-Render?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03759" y="980629"/>
            <a:ext cx="779360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Understanding </a:t>
            </a:r>
            <a:r>
              <a:rPr lang="en-US" sz="8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when and why</a:t>
            </a: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React re-renders is essential for writing efficient, predictable components.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59" y="1219126"/>
            <a:ext cx="7336408" cy="32181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27116" y="3615420"/>
            <a:ext cx="1108787" cy="198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Schedule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127116" y="3870420"/>
            <a:ext cx="1108787" cy="27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React queues a re-render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649470" y="3615420"/>
            <a:ext cx="1108787" cy="198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Reconcile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649470" y="3870420"/>
            <a:ext cx="1108787" cy="27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VDOM diff and DOM update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404763" y="1508361"/>
            <a:ext cx="1108787" cy="198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State Update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404763" y="1763361"/>
            <a:ext cx="1108787" cy="27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Call setState or updater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912999" y="1508361"/>
            <a:ext cx="1108786" cy="198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Re-execute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912999" y="1763361"/>
            <a:ext cx="1108786" cy="416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Component function runs again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03759" y="4526905"/>
            <a:ext cx="7336408" cy="302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Every </a:t>
            </a:r>
            <a:r>
              <a:rPr lang="en-US" sz="8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setState</a:t>
            </a: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call schedules a re-render. React batches updates for performance, and only re-renders components whose state or props have actually changed.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38721" y="324892"/>
            <a:ext cx="380033" cy="149796"/>
          </a:xfrm>
          <a:prstGeom prst="roundRect">
            <a:avLst>
              <a:gd name="adj" fmla="val 7275"/>
            </a:avLst>
          </a:prstGeom>
          <a:solidFill>
            <a:srgbClr val="F3E3D8"/>
          </a:solidFill>
          <a:ln/>
        </p:spPr>
      </p:sp>
      <p:sp>
        <p:nvSpPr>
          <p:cNvPr id="3" name="Text 1"/>
          <p:cNvSpPr/>
          <p:nvPr/>
        </p:nvSpPr>
        <p:spPr>
          <a:xfrm>
            <a:off x="1493193" y="352127"/>
            <a:ext cx="728290" cy="95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TOPIC 3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438721" y="497904"/>
            <a:ext cx="3837905" cy="321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Advanced </a:t>
            </a:r>
            <a:r>
              <a:rPr lang="en-US" sz="17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r>
              <a:rPr lang="en-US" sz="1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Techniques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1438721" y="906959"/>
            <a:ext cx="3104183" cy="596652"/>
          </a:xfrm>
          <a:prstGeom prst="roundRect">
            <a:avLst>
              <a:gd name="adj" fmla="val 2283"/>
            </a:avLst>
          </a:prstGeom>
          <a:solidFill>
            <a:srgbClr val="F9F7F7"/>
          </a:solidFill>
          <a:ln/>
        </p:spPr>
      </p:sp>
      <p:sp>
        <p:nvSpPr>
          <p:cNvPr id="6" name="Text 4"/>
          <p:cNvSpPr/>
          <p:nvPr/>
        </p:nvSpPr>
        <p:spPr>
          <a:xfrm>
            <a:off x="1529507" y="997744"/>
            <a:ext cx="1328068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Multiple State Variables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29507" y="1174552"/>
            <a:ext cx="2922612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Use separate </a:t>
            </a:r>
            <a:r>
              <a:rPr lang="en-US" sz="7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calls for independent values. It keeps unrelated state isolated and easier to manage.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601021" y="906959"/>
            <a:ext cx="3104257" cy="596652"/>
          </a:xfrm>
          <a:prstGeom prst="roundRect">
            <a:avLst>
              <a:gd name="adj" fmla="val 2283"/>
            </a:avLst>
          </a:prstGeom>
          <a:solidFill>
            <a:srgbClr val="F9F7F7"/>
          </a:solidFill>
          <a:ln/>
        </p:spPr>
      </p:sp>
      <p:sp>
        <p:nvSpPr>
          <p:cNvPr id="9" name="Text 7"/>
          <p:cNvSpPr/>
          <p:nvPr/>
        </p:nvSpPr>
        <p:spPr>
          <a:xfrm>
            <a:off x="4691807" y="997744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Functional Updates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91807" y="1174552"/>
            <a:ext cx="2922687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Use the functional form when new state depends on the previous value. It avoids stale updates when React batches changes.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438721" y="1561728"/>
            <a:ext cx="3104183" cy="596652"/>
          </a:xfrm>
          <a:prstGeom prst="roundRect">
            <a:avLst>
              <a:gd name="adj" fmla="val 2283"/>
            </a:avLst>
          </a:prstGeom>
          <a:solidFill>
            <a:srgbClr val="F9F7F7"/>
          </a:solidFill>
          <a:ln/>
        </p:spPr>
      </p:sp>
      <p:sp>
        <p:nvSpPr>
          <p:cNvPr id="12" name="Text 10"/>
          <p:cNvSpPr/>
          <p:nvPr/>
        </p:nvSpPr>
        <p:spPr>
          <a:xfrm>
            <a:off x="1529507" y="1652513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Updating Objects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29507" y="1829321"/>
            <a:ext cx="2922612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Create a new object instead of mutating the existing one. It helps React detect changes and prevents hidden bugs.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601021" y="1561728"/>
            <a:ext cx="3104257" cy="596652"/>
          </a:xfrm>
          <a:prstGeom prst="roundRect">
            <a:avLst>
              <a:gd name="adj" fmla="val 2283"/>
            </a:avLst>
          </a:prstGeom>
          <a:solidFill>
            <a:srgbClr val="F9F7F7"/>
          </a:solidFill>
          <a:ln/>
        </p:spPr>
      </p:sp>
      <p:sp>
        <p:nvSpPr>
          <p:cNvPr id="15" name="Text 13"/>
          <p:cNvSpPr/>
          <p:nvPr/>
        </p:nvSpPr>
        <p:spPr>
          <a:xfrm>
            <a:off x="4691807" y="1652513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Updating Arrays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691807" y="1829321"/>
            <a:ext cx="2922687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Return a new array for every change. It keeps list state predictable and ensures React re-renders correctly.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438721" y="2245593"/>
            <a:ext cx="2273573" cy="227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Code Examples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438721" y="2559844"/>
            <a:ext cx="6266557" cy="2258764"/>
          </a:xfrm>
          <a:prstGeom prst="roundRect">
            <a:avLst>
              <a:gd name="adj" fmla="val 60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34344" y="2604269"/>
            <a:ext cx="1900014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Multiple State Variables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163491" y="2604269"/>
            <a:ext cx="4446240" cy="419844"/>
          </a:xfrm>
          <a:prstGeom prst="roundRect">
            <a:avLst>
              <a:gd name="adj" fmla="val 3245"/>
            </a:avLst>
          </a:prstGeom>
          <a:solidFill>
            <a:srgbClr val="F2F2F2"/>
          </a:solidFill>
          <a:ln/>
        </p:spPr>
      </p:sp>
      <p:sp>
        <p:nvSpPr>
          <p:cNvPr id="21" name="Shape 19"/>
          <p:cNvSpPr/>
          <p:nvPr/>
        </p:nvSpPr>
        <p:spPr>
          <a:xfrm>
            <a:off x="3158951" y="2604269"/>
            <a:ext cx="4455319" cy="419844"/>
          </a:xfrm>
          <a:prstGeom prst="roundRect">
            <a:avLst>
              <a:gd name="adj" fmla="val 3245"/>
            </a:avLst>
          </a:prstGeom>
          <a:solidFill>
            <a:srgbClr val="F2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3272433" y="2695054"/>
            <a:ext cx="4228356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[name, setName] = useState('');</a:t>
            </a:r>
            <a:endParaRPr lang="en-US" sz="7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[age, setAge] = useState(0);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534344" y="3108201"/>
            <a:ext cx="1900014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Functional Updates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163491" y="3108201"/>
            <a:ext cx="4446240" cy="419844"/>
          </a:xfrm>
          <a:prstGeom prst="roundRect">
            <a:avLst>
              <a:gd name="adj" fmla="val 3245"/>
            </a:avLst>
          </a:prstGeom>
          <a:solidFill>
            <a:srgbClr val="F2F2F2"/>
          </a:solidFill>
          <a:ln/>
        </p:spPr>
      </p:sp>
      <p:sp>
        <p:nvSpPr>
          <p:cNvPr id="25" name="Shape 23"/>
          <p:cNvSpPr/>
          <p:nvPr/>
        </p:nvSpPr>
        <p:spPr>
          <a:xfrm>
            <a:off x="3158951" y="3108201"/>
            <a:ext cx="4455319" cy="419844"/>
          </a:xfrm>
          <a:prstGeom prst="roundRect">
            <a:avLst>
              <a:gd name="adj" fmla="val 3245"/>
            </a:avLst>
          </a:prstGeom>
          <a:solidFill>
            <a:srgbClr val="F2F2F2"/>
          </a:solidFill>
          <a:ln/>
        </p:spPr>
      </p:sp>
      <p:sp>
        <p:nvSpPr>
          <p:cNvPr id="26" name="Text 24"/>
          <p:cNvSpPr/>
          <p:nvPr/>
        </p:nvSpPr>
        <p:spPr>
          <a:xfrm>
            <a:off x="3272433" y="3198986"/>
            <a:ext cx="4228356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E3620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setCount(c =&gt; c + 1);</a:t>
            </a:r>
            <a:endParaRPr lang="en-US" sz="7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E3620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setCount(prev =&gt; prev + 1);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534344" y="3612133"/>
            <a:ext cx="1900014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Updating Objects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163491" y="3612133"/>
            <a:ext cx="4446240" cy="538981"/>
          </a:xfrm>
          <a:prstGeom prst="roundRect">
            <a:avLst>
              <a:gd name="adj" fmla="val 2528"/>
            </a:avLst>
          </a:prstGeom>
          <a:solidFill>
            <a:srgbClr val="F2F2F2"/>
          </a:solidFill>
          <a:ln/>
        </p:spPr>
      </p:sp>
      <p:sp>
        <p:nvSpPr>
          <p:cNvPr id="29" name="Shape 27"/>
          <p:cNvSpPr/>
          <p:nvPr/>
        </p:nvSpPr>
        <p:spPr>
          <a:xfrm>
            <a:off x="3158951" y="3612133"/>
            <a:ext cx="4455319" cy="538981"/>
          </a:xfrm>
          <a:prstGeom prst="roundRect">
            <a:avLst>
              <a:gd name="adj" fmla="val 2528"/>
            </a:avLst>
          </a:prstGeom>
          <a:solidFill>
            <a:srgbClr val="F2F2F2"/>
          </a:solidFill>
          <a:ln/>
        </p:spPr>
      </p:sp>
      <p:sp>
        <p:nvSpPr>
          <p:cNvPr id="30" name="Text 28"/>
          <p:cNvSpPr/>
          <p:nvPr/>
        </p:nvSpPr>
        <p:spPr>
          <a:xfrm>
            <a:off x="3272433" y="3702918"/>
            <a:ext cx="4228356" cy="357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setUser({</a:t>
            </a:r>
            <a:endParaRPr lang="en-US" sz="7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...user, name: 'New'</a:t>
            </a:r>
            <a:endParaRPr lang="en-US" sz="7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534344" y="4235202"/>
            <a:ext cx="1900014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Updating Arrays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163491" y="4235202"/>
            <a:ext cx="4446240" cy="538981"/>
          </a:xfrm>
          <a:prstGeom prst="roundRect">
            <a:avLst>
              <a:gd name="adj" fmla="val 2528"/>
            </a:avLst>
          </a:prstGeom>
          <a:solidFill>
            <a:srgbClr val="F2F2F2"/>
          </a:solidFill>
          <a:ln/>
        </p:spPr>
      </p:sp>
      <p:sp>
        <p:nvSpPr>
          <p:cNvPr id="33" name="Shape 31"/>
          <p:cNvSpPr/>
          <p:nvPr/>
        </p:nvSpPr>
        <p:spPr>
          <a:xfrm>
            <a:off x="3158951" y="4235202"/>
            <a:ext cx="4455319" cy="538981"/>
          </a:xfrm>
          <a:prstGeom prst="roundRect">
            <a:avLst>
              <a:gd name="adj" fmla="val 2528"/>
            </a:avLst>
          </a:prstGeom>
          <a:solidFill>
            <a:srgbClr val="F2F2F2"/>
          </a:solidFill>
          <a:ln/>
        </p:spPr>
      </p:sp>
      <p:sp>
        <p:nvSpPr>
          <p:cNvPr id="34" name="Text 32"/>
          <p:cNvSpPr/>
          <p:nvPr/>
        </p:nvSpPr>
        <p:spPr>
          <a:xfrm>
            <a:off x="3272433" y="4325987"/>
            <a:ext cx="4228356" cy="357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E3620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setItems([</a:t>
            </a:r>
            <a:endParaRPr lang="en-US" sz="7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E3620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...items, newItem</a:t>
            </a:r>
            <a:endParaRPr lang="en-US" sz="7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E3620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62298" y="326603"/>
            <a:ext cx="389111" cy="154409"/>
          </a:xfrm>
          <a:prstGeom prst="roundRect">
            <a:avLst>
              <a:gd name="adj" fmla="val 7230"/>
            </a:avLst>
          </a:prstGeom>
          <a:solidFill>
            <a:srgbClr val="F3E3D8"/>
          </a:solidFill>
          <a:ln/>
        </p:spPr>
      </p:sp>
      <p:sp>
        <p:nvSpPr>
          <p:cNvPr id="3" name="Text 1"/>
          <p:cNvSpPr/>
          <p:nvPr/>
        </p:nvSpPr>
        <p:spPr>
          <a:xfrm>
            <a:off x="1418109" y="354509"/>
            <a:ext cx="734690" cy="9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TOPIC 4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362298" y="505420"/>
            <a:ext cx="3069878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React Synthetic Events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298" y="2257499"/>
            <a:ext cx="2099221" cy="11895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93244" y="948705"/>
            <a:ext cx="16200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They Are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93244" y="1155055"/>
            <a:ext cx="4093146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React Synthetic Events are wrapper objects around native browser events. They give you a consistent event interface across different browsers, so event handling behaves predictably inside React components.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693244" y="1585764"/>
            <a:ext cx="1734517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Why React Uses Them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93244" y="1792114"/>
            <a:ext cx="4093146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React uses synthetic events to normalize browser differences and simplify event handling. This cross-browser compatibility helps ensure that the same code works reliably whether the event comes from Chrome, Firefox, Safari, or other environments.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693244" y="2222822"/>
            <a:ext cx="20010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Accessing Event Properties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693244" y="2429173"/>
            <a:ext cx="4093146" cy="37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You can read event data directly from the event object passed into your handler. Common patterns include </a:t>
            </a:r>
            <a:r>
              <a:rPr lang="en-US" sz="7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e.target.value</a:t>
            </a: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for form input values, </a:t>
            </a:r>
            <a:r>
              <a:rPr lang="en-US" sz="7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e.preventDefault()</a:t>
            </a: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to stop default browser behavior, and </a:t>
            </a:r>
            <a:r>
              <a:rPr lang="en-US" sz="7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e.stopPropagation()</a:t>
            </a: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to prevent an event from bubbling further.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3693244" y="2869406"/>
            <a:ext cx="16200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Common Patterns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693244" y="3083421"/>
            <a:ext cx="4093146" cy="1664791"/>
          </a:xfrm>
          <a:prstGeom prst="roundRect">
            <a:avLst>
              <a:gd name="adj" fmla="val 838"/>
            </a:avLst>
          </a:prstGeom>
          <a:solidFill>
            <a:srgbClr val="F2F2F2"/>
          </a:solidFill>
          <a:ln/>
        </p:spPr>
      </p:sp>
      <p:sp>
        <p:nvSpPr>
          <p:cNvPr id="14" name="Shape 11"/>
          <p:cNvSpPr/>
          <p:nvPr/>
        </p:nvSpPr>
        <p:spPr>
          <a:xfrm>
            <a:off x="3688631" y="3083421"/>
            <a:ext cx="4102373" cy="1664791"/>
          </a:xfrm>
          <a:prstGeom prst="roundRect">
            <a:avLst>
              <a:gd name="adj" fmla="val 838"/>
            </a:avLst>
          </a:prstGeom>
          <a:solidFill>
            <a:srgbClr val="F2F2F2"/>
          </a:solidFill>
          <a:ln/>
        </p:spPr>
      </p:sp>
      <p:sp>
        <p:nvSpPr>
          <p:cNvPr id="15" name="Text 12"/>
          <p:cNvSpPr/>
          <p:nvPr/>
        </p:nvSpPr>
        <p:spPr>
          <a:xfrm>
            <a:off x="3804865" y="3176439"/>
            <a:ext cx="3869903" cy="1478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handleChange = (e) =&gt; {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setName(e.target.value);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handleSubmit = (e) =&gt; {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e.preventDefault();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saveForm();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handleClick = (e) =&gt; {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console.log(e.type);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5219" y="460549"/>
            <a:ext cx="500360" cy="212824"/>
          </a:xfrm>
          <a:prstGeom prst="roundRect">
            <a:avLst>
              <a:gd name="adj" fmla="val 6745"/>
            </a:avLst>
          </a:prstGeom>
          <a:solidFill>
            <a:srgbClr val="F3E3D8"/>
          </a:solidFill>
          <a:ln/>
        </p:spPr>
      </p:sp>
      <p:sp>
        <p:nvSpPr>
          <p:cNvPr id="3" name="Text 1"/>
          <p:cNvSpPr/>
          <p:nvPr/>
        </p:nvSpPr>
        <p:spPr>
          <a:xfrm>
            <a:off x="516954" y="496416"/>
            <a:ext cx="814090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TOPIC 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45219" y="713705"/>
            <a:ext cx="5999708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Passing Arguments to Event Handlers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445219" y="1238845"/>
            <a:ext cx="825348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Efficiently manage user interactions by passing specific data to your event handlers, ensuring your components respond dynamically to different inputs without re-rendering issues.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45219" y="1805955"/>
            <a:ext cx="316691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Correct Approach: Arrow Functions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45219" y="2093714"/>
            <a:ext cx="3980780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Wrap your handler call in an arrow function. This delays execution until the event is triggered, allowing you to pass arguments without immediate invocation during render.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45219" y="2736279"/>
            <a:ext cx="3980780" cy="1650057"/>
          </a:xfrm>
          <a:prstGeom prst="roundRect">
            <a:avLst>
              <a:gd name="adj" fmla="val 1087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439266" y="2736279"/>
            <a:ext cx="3992687" cy="1650057"/>
          </a:xfrm>
          <a:prstGeom prst="roundRect">
            <a:avLst>
              <a:gd name="adj" fmla="val 1087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588764" y="2855863"/>
            <a:ext cx="3693691" cy="1410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 handleItemClick = (itemId) =&gt; {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console.log(`Clicked item: ${itemId}`);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In JSX: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onClick={() =&gt; handleItemClick(item.id)}&gt;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Item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22614" y="1805955"/>
            <a:ext cx="2848049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Incorrect Approach: Direct Call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22614" y="2093714"/>
            <a:ext cx="3980780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Avoid directly calling the event handler in JSX with parentheses. This executes the function immediately when the component renders, not when the event occurs.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22614" y="2736279"/>
            <a:ext cx="3980780" cy="944612"/>
          </a:xfrm>
          <a:prstGeom prst="roundRect">
            <a:avLst>
              <a:gd name="adj" fmla="val 1899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4716661" y="2736279"/>
            <a:ext cx="3992687" cy="944612"/>
          </a:xfrm>
          <a:prstGeom prst="roundRect">
            <a:avLst>
              <a:gd name="adj" fmla="val 1899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4866159" y="2855863"/>
            <a:ext cx="3693691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In JSX (AVOID THIS!):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onClick={handleItemClick(item.id)}&gt;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Item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22614" y="3794373"/>
            <a:ext cx="3980780" cy="784715"/>
          </a:xfrm>
          <a:prstGeom prst="roundRect">
            <a:avLst>
              <a:gd name="adj" fmla="val 2315"/>
            </a:avLst>
          </a:prstGeom>
          <a:solidFill>
            <a:srgbClr val="FFB3B4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197" y="3967683"/>
            <a:ext cx="149498" cy="11958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111279" y="3914998"/>
            <a:ext cx="3472532" cy="533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Calling the function directly (e.g., </a:t>
            </a: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onClick={myFunction(arg)}</a:t>
            </a:r>
            <a:r>
              <a:rPr lang="en-US" sz="9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) will execute it on every render, not just on click. This can lead to bugs, performance issues, or even infinite loops.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26531" y="194890"/>
            <a:ext cx="296391" cy="110430"/>
          </a:xfrm>
          <a:prstGeom prst="roundRect">
            <a:avLst>
              <a:gd name="adj" fmla="val 7703"/>
            </a:avLst>
          </a:prstGeom>
          <a:solidFill>
            <a:srgbClr val="F3E3D8"/>
          </a:solidFill>
          <a:ln/>
        </p:spPr>
      </p:sp>
      <p:sp>
        <p:nvSpPr>
          <p:cNvPr id="3" name="Text 1"/>
          <p:cNvSpPr/>
          <p:nvPr/>
        </p:nvSpPr>
        <p:spPr>
          <a:xfrm>
            <a:off x="2169021" y="216098"/>
            <a:ext cx="668610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TOPIC 6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2126531" y="319460"/>
            <a:ext cx="26684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Advanced Form Elements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834134" y="599468"/>
            <a:ext cx="5348139" cy="77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Beyond text inputs — React handles all form elements through controlled components.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23151" y="742599"/>
            <a:ext cx="8052253" cy="3788899"/>
          </a:xfrm>
          <a:prstGeom prst="roundRect">
            <a:avLst>
              <a:gd name="adj" fmla="val 217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1034916" y="1096585"/>
            <a:ext cx="3473288" cy="3213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Textarea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 [bio, setBio] = useState("");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setBio(e.target.value)}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Select dropdown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 [role, setRole] = useState("user");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&lt;select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value={role}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onChange={(e) =&gt; setRole(e.target.value)}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 value="user"&gt;User&lt;/option&gt;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 value="admin"&gt;Admin&lt;/option&gt;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&lt;/select&gt;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Radio buttons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 [plan, setPlan] = useState("basic");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&lt;label&gt;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type="radio"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name="plan"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value="basic"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checked={plan === "basic"}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onChange={(e) =&gt; setPlan(e.target.value)}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/&gt;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Basic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&lt;/label&gt;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334553" y="1030475"/>
            <a:ext cx="3473288" cy="3213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&lt;label&gt;</a:t>
            </a:r>
            <a:endParaRPr lang="en-US" sz="700" dirty="0"/>
          </a:p>
          <a:p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</a:t>
            </a:r>
            <a:endParaRPr lang="en-US" sz="700" dirty="0"/>
          </a:p>
          <a:p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type="radio"</a:t>
            </a:r>
            <a:endParaRPr lang="en-US" sz="700" dirty="0"/>
          </a:p>
          <a:p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name="plan"</a:t>
            </a:r>
            <a:endParaRPr lang="en-US" sz="700" dirty="0"/>
          </a:p>
          <a:p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value="pro"</a:t>
            </a:r>
            <a:endParaRPr lang="en-US" sz="700" dirty="0"/>
          </a:p>
          <a:p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checked={plan === "pro"}</a:t>
            </a:r>
            <a:endParaRPr lang="en-US" sz="700" dirty="0"/>
          </a:p>
          <a:p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00" dirty="0" err="1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onChange</a:t>
            </a: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={(e) =&gt; </a:t>
            </a:r>
            <a:r>
              <a:rPr lang="en-US" sz="700" dirty="0" err="1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setPlan</a:t>
            </a: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00" dirty="0" err="1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e.target.value</a:t>
            </a: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)}</a:t>
            </a:r>
            <a:endParaRPr lang="en-US" sz="700" dirty="0"/>
          </a:p>
          <a:p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/&gt;</a:t>
            </a:r>
            <a:endParaRPr lang="en-US" sz="700" dirty="0"/>
          </a:p>
          <a:p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Pro</a:t>
            </a:r>
            <a:endParaRPr lang="en-US" sz="700" dirty="0"/>
          </a:p>
          <a:p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&lt;/label&gt;</a:t>
            </a:r>
            <a:endParaRPr lang="en-US" sz="700" dirty="0"/>
          </a:p>
          <a:p>
            <a:endParaRPr lang="en-US" sz="700" dirty="0"/>
          </a:p>
          <a:p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Checkbox</a:t>
            </a:r>
            <a:endParaRPr lang="en-US" sz="700" dirty="0"/>
          </a:p>
          <a:p>
            <a:r>
              <a:rPr lang="en-US" sz="700" dirty="0" err="1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[subscribed, </a:t>
            </a:r>
            <a:r>
              <a:rPr lang="en-US" sz="700" dirty="0" err="1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setSubscribed</a:t>
            </a: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r>
              <a:rPr lang="en-US" sz="700" dirty="0" err="1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(false);</a:t>
            </a:r>
            <a:endParaRPr lang="en-US" sz="700" dirty="0"/>
          </a:p>
          <a:p>
            <a:endParaRPr lang="en-US" sz="700" dirty="0"/>
          </a:p>
          <a:p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</a:t>
            </a:r>
            <a:endParaRPr lang="en-US" sz="700" dirty="0"/>
          </a:p>
          <a:p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type="checkbox"</a:t>
            </a:r>
            <a:endParaRPr lang="en-US" sz="700" dirty="0"/>
          </a:p>
          <a:p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checked={subscribed}</a:t>
            </a:r>
            <a:endParaRPr lang="en-US" sz="700" dirty="0"/>
          </a:p>
          <a:p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00" dirty="0" err="1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onChange</a:t>
            </a: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={(e) =&gt; </a:t>
            </a:r>
            <a:r>
              <a:rPr lang="en-US" sz="700" dirty="0" err="1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setSubscribed</a:t>
            </a: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00" dirty="0" err="1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e.target.checked</a:t>
            </a: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)}</a:t>
            </a:r>
            <a:endParaRPr lang="en-US" sz="700" dirty="0"/>
          </a:p>
          <a:p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700" dirty="0"/>
          </a:p>
          <a:p>
            <a:endParaRPr lang="en-US" sz="700" dirty="0"/>
          </a:p>
          <a:p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Multiple fields</a:t>
            </a:r>
            <a:endParaRPr lang="en-US" sz="700" dirty="0"/>
          </a:p>
          <a:p>
            <a:r>
              <a:rPr lang="en-US" sz="700" dirty="0" err="1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[form, </a:t>
            </a:r>
            <a:r>
              <a:rPr lang="en-US" sz="700" dirty="0" err="1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setForm</a:t>
            </a: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r>
              <a:rPr lang="en-US" sz="700" dirty="0" err="1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({ </a:t>
            </a:r>
            <a:r>
              <a:rPr lang="en-US" sz="700" dirty="0" err="1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firstName</a:t>
            </a: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 "", </a:t>
            </a:r>
            <a:r>
              <a:rPr lang="en-US" sz="700" dirty="0" err="1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lastName</a:t>
            </a: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 "" });</a:t>
            </a:r>
            <a:endParaRPr lang="en-US" sz="700" dirty="0"/>
          </a:p>
          <a:p>
            <a:endParaRPr lang="en-US" sz="700" dirty="0"/>
          </a:p>
          <a:p>
            <a:r>
              <a:rPr lang="en-US" sz="700" dirty="0" err="1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00" dirty="0" err="1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handleChange</a:t>
            </a: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= (e) =&gt; {</a:t>
            </a:r>
            <a:endParaRPr lang="en-US" sz="700" dirty="0"/>
          </a:p>
          <a:p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00" dirty="0" err="1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setForm</a:t>
            </a: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700" dirty="0"/>
          </a:p>
          <a:p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...form,</a:t>
            </a:r>
            <a:endParaRPr lang="en-US" sz="700" dirty="0"/>
          </a:p>
          <a:p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[e.target.name]: </a:t>
            </a:r>
            <a:r>
              <a:rPr lang="en-US" sz="700" dirty="0" err="1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e.target.value</a:t>
            </a:r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00" dirty="0"/>
          </a:p>
          <a:p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700" dirty="0"/>
          </a:p>
          <a:p>
            <a:r>
              <a:rPr lang="en-US" sz="7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759" y="331440"/>
            <a:ext cx="444996" cy="182761"/>
          </a:xfrm>
          <a:prstGeom prst="roundRect">
            <a:avLst>
              <a:gd name="adj" fmla="val 6981"/>
            </a:avLst>
          </a:prstGeom>
          <a:solidFill>
            <a:srgbClr val="F3E3D8"/>
          </a:solidFill>
          <a:ln/>
        </p:spPr>
      </p:sp>
      <p:sp>
        <p:nvSpPr>
          <p:cNvPr id="3" name="Text 1"/>
          <p:cNvSpPr/>
          <p:nvPr/>
        </p:nvSpPr>
        <p:spPr>
          <a:xfrm>
            <a:off x="967532" y="363289"/>
            <a:ext cx="77465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TOPIC 7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3759" y="546050"/>
            <a:ext cx="3985096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Form Validation with State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03759" y="2145134"/>
            <a:ext cx="17862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Validation Patterns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03759" y="2390924"/>
            <a:ext cx="239910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Store errors in state, validate on change or submit, and block invalid submissions.</a:t>
            </a:r>
            <a:endParaRPr lang="en-US" sz="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038" y="1087562"/>
            <a:ext cx="4677817" cy="2650703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943570" y="3920877"/>
            <a:ext cx="159469" cy="1594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49189" y="3917603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Required Fields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249189" y="4131469"/>
            <a:ext cx="327295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Check </a:t>
            </a:r>
            <a:r>
              <a:rPr lang="en-US" sz="8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value.trim()</a:t>
            </a: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flag empty strings.</a:t>
            </a:r>
            <a:endParaRPr lang="en-US" sz="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661595" y="3920877"/>
            <a:ext cx="159469" cy="15946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67213" y="3917603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Error State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967213" y="4131469"/>
            <a:ext cx="327295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Track errors per field: </a:t>
            </a:r>
            <a:r>
              <a:rPr lang="en-US" sz="8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{`{ email: '', password: '' }`}</a:t>
            </a:r>
            <a:endParaRPr lang="en-US" sz="8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943570" y="4447803"/>
            <a:ext cx="159469" cy="15946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49189" y="4444529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Prevent Submission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1249189" y="4658395"/>
            <a:ext cx="327295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Return early if </a:t>
            </a:r>
            <a:r>
              <a:rPr lang="en-US" sz="8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Object.values(errors).some(e =&gt; e)</a:t>
            </a: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is truthy.</a:t>
            </a:r>
            <a:endParaRPr lang="en-US" sz="8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4661595" y="4447803"/>
            <a:ext cx="159469" cy="15946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967213" y="4444529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User Feedback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4967213" y="4658395"/>
            <a:ext cx="327295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Show inline errors, disable the submit button until valid.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8654" y="506537"/>
            <a:ext cx="500360" cy="212824"/>
          </a:xfrm>
          <a:prstGeom prst="roundRect">
            <a:avLst>
              <a:gd name="adj" fmla="val 6745"/>
            </a:avLst>
          </a:prstGeom>
          <a:solidFill>
            <a:srgbClr val="F3E3D8"/>
          </a:solidFill>
          <a:ln/>
        </p:spPr>
      </p:sp>
      <p:sp>
        <p:nvSpPr>
          <p:cNvPr id="4" name="Text 1"/>
          <p:cNvSpPr/>
          <p:nvPr/>
        </p:nvSpPr>
        <p:spPr>
          <a:xfrm>
            <a:off x="490389" y="542404"/>
            <a:ext cx="814090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TOPIC 8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18654" y="759693"/>
            <a:ext cx="5255791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Advanced Conditional Rendering</a:t>
            </a:r>
            <a:endParaRPr lang="en-US" sz="2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18654" y="1284833"/>
            <a:ext cx="4877693" cy="7176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12254" y="1418704"/>
            <a:ext cx="195433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if/else &amp; Element Variables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1012254" y="1666056"/>
            <a:ext cx="4150221" cy="181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Store JSX in a variable using standard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if/else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, then render it.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18654" y="2103388"/>
            <a:ext cx="4877693" cy="8963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12254" y="2237259"/>
            <a:ext cx="1495202" cy="210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Return </a:t>
            </a:r>
            <a:r>
              <a:rPr lang="en-US" sz="11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1012254" y="2508424"/>
            <a:ext cx="4150221" cy="357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component returning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renders nothing — ideal for hiding components.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418654" y="3100685"/>
            <a:ext cx="4877693" cy="71764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12254" y="3234556"/>
            <a:ext cx="178415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Loading &amp; Empty States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1012254" y="3481908"/>
            <a:ext cx="4150221" cy="181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Check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isLoading ? &lt;Spinner /&gt; : data.length ? &lt;List /&gt; : &lt;Empty /&gt;</a:t>
            </a:r>
            <a:endParaRPr lang="en-US" sz="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418654" y="3919240"/>
            <a:ext cx="4877693" cy="71764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12254" y="4053111"/>
            <a:ext cx="163949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Auth-Based Rendering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1012254" y="4300463"/>
            <a:ext cx="4150221" cy="181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Render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&lt;Dashboard /&gt;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or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&lt;Login /&gt;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based on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isAuthenticated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state.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4132" y="341114"/>
            <a:ext cx="571500" cy="223317"/>
          </a:xfrm>
          <a:prstGeom prst="roundRect">
            <a:avLst>
              <a:gd name="adj" fmla="val 6666"/>
            </a:avLst>
          </a:prstGeom>
          <a:solidFill>
            <a:srgbClr val="F3E3D8"/>
          </a:solidFill>
          <a:ln/>
        </p:spPr>
      </p:sp>
      <p:sp>
        <p:nvSpPr>
          <p:cNvPr id="3" name="Text 1"/>
          <p:cNvSpPr/>
          <p:nvPr/>
        </p:nvSpPr>
        <p:spPr>
          <a:xfrm>
            <a:off x="508546" y="378321"/>
            <a:ext cx="879872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TOPIC 10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4132" y="607814"/>
            <a:ext cx="589024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Common Mistakes &amp; Best Practices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34132" y="1266602"/>
            <a:ext cx="2052861" cy="20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⚠️</a:t>
            </a:r>
            <a:r>
              <a:rPr lang="en-US" sz="1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Mistakes to Avoid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19844" y="1596777"/>
            <a:ext cx="4000872" cy="955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5255" y="173503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Direct Mutation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5255" y="2037383"/>
            <a:ext cx="3667199" cy="376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Never do </a:t>
            </a:r>
            <a:r>
              <a:rPr lang="en-US" sz="9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state.name = 'new'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always create a new object or array.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19844" y="2660972"/>
            <a:ext cx="4000872" cy="9557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5255" y="279923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Stale State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15255" y="3101578"/>
            <a:ext cx="3667199" cy="376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Use functional updates </a:t>
            </a:r>
            <a:r>
              <a:rPr lang="en-US" sz="9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setCount(c =&gt; c + 1)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when the new value depends on the old.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19844" y="3725168"/>
            <a:ext cx="4000872" cy="9557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5255" y="386342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Uncontrolled Inputs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15255" y="4165774"/>
            <a:ext cx="3667199" cy="376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Mixing </a:t>
            </a:r>
            <a:r>
              <a:rPr lang="en-US" sz="9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and no </a:t>
            </a:r>
            <a:r>
              <a:rPr lang="en-US" sz="9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onChange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creates warnings — pick controlled or uncontrolled, not both.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638749" y="1158106"/>
            <a:ext cx="4165178" cy="3644801"/>
          </a:xfrm>
          <a:prstGeom prst="roundRect">
            <a:avLst>
              <a:gd name="adj" fmla="val 511"/>
            </a:avLst>
          </a:prstGeom>
          <a:solidFill>
            <a:srgbClr val="A95B95"/>
          </a:solidFill>
          <a:ln/>
        </p:spPr>
      </p:sp>
      <p:sp>
        <p:nvSpPr>
          <p:cNvPr id="16" name="Text 11"/>
          <p:cNvSpPr/>
          <p:nvPr/>
        </p:nvSpPr>
        <p:spPr>
          <a:xfrm>
            <a:off x="4762723" y="1266602"/>
            <a:ext cx="2007766" cy="20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✅ Best Practices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762723" y="1583234"/>
            <a:ext cx="3917231" cy="1091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Derive state from props only when truly necessary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Keep state as close as possible to where it's used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Split complex state into multiple </a:t>
            </a:r>
            <a:r>
              <a:rPr lang="en-US" sz="950" dirty="0">
                <a:solidFill>
                  <a:srgbClr val="000000"/>
                </a:solidFill>
                <a:highlight>
                  <a:srgbClr val="B668A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r>
              <a:rPr lang="en-US" sz="9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calls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Use </a:t>
            </a:r>
            <a:r>
              <a:rPr lang="en-US" sz="950" dirty="0">
                <a:solidFill>
                  <a:srgbClr val="000000"/>
                </a:solidFill>
                <a:highlight>
                  <a:srgbClr val="B668A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useReducer</a:t>
            </a:r>
            <a:r>
              <a:rPr lang="en-US" sz="9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for complex state logic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Profile with React DevTools to catch unnecessary re-renders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26531" y="285304"/>
            <a:ext cx="326306" cy="110430"/>
          </a:xfrm>
          <a:prstGeom prst="roundRect">
            <a:avLst>
              <a:gd name="adj" fmla="val 7703"/>
            </a:avLst>
          </a:prstGeom>
          <a:solidFill>
            <a:srgbClr val="F3E3D8"/>
          </a:solidFill>
          <a:ln/>
        </p:spPr>
      </p:sp>
      <p:sp>
        <p:nvSpPr>
          <p:cNvPr id="3" name="Text 1"/>
          <p:cNvSpPr/>
          <p:nvPr/>
        </p:nvSpPr>
        <p:spPr>
          <a:xfrm>
            <a:off x="2169021" y="306512"/>
            <a:ext cx="698525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TOPIC 11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2126531" y="409873"/>
            <a:ext cx="51064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React Code Example: Select Dropdowns &amp; Form State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126531" y="684461"/>
            <a:ext cx="4890939" cy="3714006"/>
          </a:xfrm>
          <a:prstGeom prst="roundRect">
            <a:avLst>
              <a:gd name="adj" fmla="val 286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2123033" y="684461"/>
            <a:ext cx="4897934" cy="3714006"/>
          </a:xfrm>
          <a:prstGeom prst="roundRect">
            <a:avLst>
              <a:gd name="adj" fmla="val 286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2211586" y="755303"/>
            <a:ext cx="4720828" cy="3572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 } from 'react';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UserForm() {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[formData, setFormData] = useState({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'',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email: '',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country: '',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subscribe: false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[errors, setErrors] = useState({});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// Handle input changes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handleChange = (e) =&gt; {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{ name, value, type, checked } = e.target;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setFormData(prev =&gt; ({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...prev,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[name]: type === 'checkbox' ? checked : value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}));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// Validate form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validateForm = () =&gt; {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newErrors = {};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(!formData.name.trim()) newErrors.name = 'Name required';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(!formData.email.trim()) newErrors.email = 'Email required';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(!formData.country) newErrors.country = 'Select a country';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setErrors(newErrors);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Object.keys(newErrors).length === 0;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// Handle submit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handleSubmit = (e) =&gt; {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e.preventDefault();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(validateForm()) {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console.log('Form submitted:', formData);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Send to API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(); } 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550" dirty="0"/>
          </a:p>
        </p:txBody>
      </p:sp>
      <p:sp>
        <p:nvSpPr>
          <p:cNvPr id="8" name="Text 6"/>
          <p:cNvSpPr/>
          <p:nvPr/>
        </p:nvSpPr>
        <p:spPr>
          <a:xfrm>
            <a:off x="2126531" y="4438278"/>
            <a:ext cx="4890939" cy="41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  </a:t>
            </a:r>
            <a:endParaRPr lang="en-US" sz="55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     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This example demonstrates: State management with multiple fields, controlled components for all form elements, event handling with dynamic keys, validation with error state, and conditional rendering of error messages.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1496</Words>
  <Application>Microsoft Office PowerPoint</Application>
  <PresentationFormat>On-screen Show (16:9)</PresentationFormat>
  <Paragraphs>246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Arial</vt:lpstr>
      <vt:lpstr>Platypi Medium</vt:lpstr>
      <vt:lpstr>Source Serif 4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Avinash Dubakula</cp:lastModifiedBy>
  <cp:revision>4</cp:revision>
  <dcterms:created xsi:type="dcterms:W3CDTF">2026-06-09T09:58:49Z</dcterms:created>
  <dcterms:modified xsi:type="dcterms:W3CDTF">2026-06-09T10:24:22Z</dcterms:modified>
</cp:coreProperties>
</file>