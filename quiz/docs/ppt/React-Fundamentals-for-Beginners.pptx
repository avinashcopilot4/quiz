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Platypi Medium" panose="020B0604020202020204" charset="0"/>
      <p:regular r:id="rId17"/>
    </p:embeddedFont>
    <p:embeddedFont>
      <p:font typeface="Source Serif 4" panose="020B0604020202020204" charset="0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38832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469306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React Fundamentals for Beginners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567880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 practical introduction to building modern UIs with React — components, JSX, props, and dynamic rendering — for developers with HTML, CSS, and JavaScript experience.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3407792"/>
            <a:ext cx="2039020" cy="266402"/>
          </a:xfrm>
          <a:prstGeom prst="roundRect">
            <a:avLst>
              <a:gd name="adj" fmla="val 6386"/>
            </a:avLst>
          </a:prstGeom>
          <a:solidFill>
            <a:srgbClr val="F3E3D8"/>
          </a:solidFill>
          <a:ln/>
        </p:spPr>
      </p:sp>
      <p:sp>
        <p:nvSpPr>
          <p:cNvPr id="6" name="Text 3"/>
          <p:cNvSpPr/>
          <p:nvPr/>
        </p:nvSpPr>
        <p:spPr>
          <a:xfrm>
            <a:off x="4010174" y="3450282"/>
            <a:ext cx="2326109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REACT · VITE · JSX · COMPONENTS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596057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What Is React?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1251645"/>
            <a:ext cx="47227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React is an open-source JavaScript library created by Facebook (Meta) in 2013 for building user interfaces. It uses a </a:t>
            </a:r>
            <a:r>
              <a:rPr lang="en-US" sz="11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component-based architecture</a:t>
            </a: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— your UI is a tree of small, reusable pieces that manage their own state and render independently.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2318370"/>
            <a:ext cx="2290465" cy="1270471"/>
          </a:xfrm>
          <a:prstGeom prst="roundRect">
            <a:avLst>
              <a:gd name="adj" fmla="val 1674"/>
            </a:avLst>
          </a:prstGeom>
          <a:solidFill>
            <a:srgbClr val="F9F7F7"/>
          </a:solidFill>
          <a:ln/>
        </p:spPr>
      </p:sp>
      <p:sp>
        <p:nvSpPr>
          <p:cNvPr id="6" name="Text 3"/>
          <p:cNvSpPr/>
          <p:nvPr/>
        </p:nvSpPr>
        <p:spPr>
          <a:xfrm>
            <a:off x="637877" y="246012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Declarative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37877" y="2766640"/>
            <a:ext cx="200694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Describe what the UI should look like. React handles the updates.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928342" y="2318370"/>
            <a:ext cx="2290539" cy="1270471"/>
          </a:xfrm>
          <a:prstGeom prst="roundRect">
            <a:avLst>
              <a:gd name="adj" fmla="val 1674"/>
            </a:avLst>
          </a:prstGeom>
          <a:solidFill>
            <a:srgbClr val="F9F7F7"/>
          </a:solidFill>
          <a:ln/>
        </p:spPr>
      </p:sp>
      <p:sp>
        <p:nvSpPr>
          <p:cNvPr id="9" name="Text 6"/>
          <p:cNvSpPr/>
          <p:nvPr/>
        </p:nvSpPr>
        <p:spPr>
          <a:xfrm>
            <a:off x="3070101" y="246012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Component-Based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3070101" y="2766640"/>
            <a:ext cx="200702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Build UIs from isolated, reusable components — like LEGO blocks.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96119" y="3730600"/>
            <a:ext cx="4722763" cy="816843"/>
          </a:xfrm>
          <a:prstGeom prst="roundRect">
            <a:avLst>
              <a:gd name="adj" fmla="val 2603"/>
            </a:avLst>
          </a:prstGeom>
          <a:solidFill>
            <a:srgbClr val="F9F7F7"/>
          </a:solidFill>
          <a:ln/>
        </p:spPr>
      </p:sp>
      <p:sp>
        <p:nvSpPr>
          <p:cNvPr id="12" name="Text 9"/>
          <p:cNvSpPr/>
          <p:nvPr/>
        </p:nvSpPr>
        <p:spPr>
          <a:xfrm>
            <a:off x="637877" y="387235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Cross-Platform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37877" y="4178871"/>
            <a:ext cx="44392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React powers web apps and mobile apps via React Native.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0182" y="326901"/>
            <a:ext cx="5648995" cy="325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Why React? The Virtual DOM Advantage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980182" y="805086"/>
            <a:ext cx="7183562" cy="288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Traditional DOM manipulation is slow and error-prone. React uses a </a:t>
            </a:r>
            <a:r>
              <a:rPr lang="en-US" sz="8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Virtual DOM</a:t>
            </a:r>
            <a:r>
              <a:rPr lang="en-US" sz="8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— a lightweight in-memory copy — to compute the minimum set of changes needed, then applies only those updates to the real DOM.</a:t>
            </a:r>
            <a:endParaRPr lang="en-US" sz="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182" y="1265858"/>
            <a:ext cx="3464793" cy="346479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03638" y="2335039"/>
            <a:ext cx="175855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Rendering Lifecycle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703638" y="2574131"/>
            <a:ext cx="3464793" cy="6578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16000"/>
              </a:lnSpc>
              <a:buSzPct val="100000"/>
              <a:buFont typeface="+mj-lt"/>
              <a:buAutoNum type="arabicPeriod"/>
            </a:pPr>
            <a:r>
              <a:rPr lang="en-US" sz="8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State or props change</a:t>
            </a:r>
            <a:endParaRPr lang="en-US" sz="800" dirty="0"/>
          </a:p>
          <a:p>
            <a:pPr marL="342900" indent="-342900" algn="l">
              <a:lnSpc>
                <a:spcPct val="116000"/>
              </a:lnSpc>
              <a:buSzPct val="100000"/>
              <a:buFont typeface="+mj-lt"/>
              <a:buAutoNum type="arabicPeriod" startAt="2"/>
            </a:pPr>
            <a:r>
              <a:rPr lang="en-US" sz="8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React creates a new Virtual DOM tree</a:t>
            </a:r>
            <a:endParaRPr lang="en-US" sz="800" dirty="0"/>
          </a:p>
          <a:p>
            <a:pPr marL="342900" indent="-342900" algn="l">
              <a:lnSpc>
                <a:spcPct val="116000"/>
              </a:lnSpc>
              <a:buSzPct val="100000"/>
              <a:buFont typeface="+mj-lt"/>
              <a:buAutoNum type="arabicPeriod" startAt="3"/>
            </a:pPr>
            <a:r>
              <a:rPr lang="en-US" sz="8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Diffing algorithm compares old vs. new</a:t>
            </a:r>
            <a:endParaRPr lang="en-US" sz="800" dirty="0"/>
          </a:p>
          <a:p>
            <a:pPr marL="342900" indent="-342900" algn="l">
              <a:lnSpc>
                <a:spcPct val="116000"/>
              </a:lnSpc>
              <a:buSzPct val="100000"/>
              <a:buFont typeface="+mj-lt"/>
              <a:buAutoNum type="arabicPeriod" startAt="4"/>
            </a:pPr>
            <a:r>
              <a:rPr lang="en-US" sz="8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Only the changed nodes update in the real DOM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703638" y="3317974"/>
            <a:ext cx="3464793" cy="333896"/>
          </a:xfrm>
          <a:prstGeom prst="roundRect">
            <a:avLst>
              <a:gd name="adj" fmla="val 4677"/>
            </a:avLst>
          </a:prstGeom>
          <a:solidFill>
            <a:srgbClr val="B6D6FC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7744" y="3466430"/>
            <a:ext cx="130076" cy="10410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41925" y="3412703"/>
            <a:ext cx="3479602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Result: faster UIs with less manual optimization work.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393" y="382786"/>
            <a:ext cx="4412977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Setting Up React with Vite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426393" y="972815"/>
            <a:ext cx="8717607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Vite is the modern replacement for Create React App — faster startup, native ES modules, and a better developer experience.</a:t>
            </a:r>
            <a:endParaRPr lang="en-US" sz="9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393" y="1518717"/>
            <a:ext cx="5285259" cy="299494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13624" y="1376363"/>
            <a:ext cx="19800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Prerequisites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013624" y="1671340"/>
            <a:ext cx="3130376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Install </a:t>
            </a:r>
            <a:r>
              <a:rPr lang="en-US" sz="9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Node.js 18+</a:t>
            </a: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from nodejs.org, then run: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6013624" y="1970261"/>
            <a:ext cx="2708672" cy="968425"/>
          </a:xfrm>
          <a:prstGeom prst="roundRect">
            <a:avLst>
              <a:gd name="adj" fmla="val 1887"/>
            </a:avLst>
          </a:prstGeom>
          <a:solidFill>
            <a:srgbClr val="F2F2F2"/>
          </a:solidFill>
          <a:ln/>
        </p:spPr>
      </p:sp>
      <p:sp>
        <p:nvSpPr>
          <p:cNvPr id="8" name="Shape 5"/>
          <p:cNvSpPr/>
          <p:nvPr/>
        </p:nvSpPr>
        <p:spPr>
          <a:xfrm>
            <a:off x="6007596" y="1970261"/>
            <a:ext cx="2720727" cy="968425"/>
          </a:xfrm>
          <a:prstGeom prst="roundRect">
            <a:avLst>
              <a:gd name="adj" fmla="val 1887"/>
            </a:avLst>
          </a:prstGeom>
          <a:solidFill>
            <a:srgbClr val="F2F2F2"/>
          </a:solidFill>
          <a:ln/>
        </p:spPr>
      </p:sp>
      <p:sp>
        <p:nvSpPr>
          <p:cNvPr id="9" name="Text 6"/>
          <p:cNvSpPr/>
          <p:nvPr/>
        </p:nvSpPr>
        <p:spPr>
          <a:xfrm>
            <a:off x="6159847" y="2092077"/>
            <a:ext cx="2416225" cy="7247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create vite@latest my-app</a:t>
            </a:r>
            <a:endParaRPr lang="en-US" sz="950" dirty="0"/>
          </a:p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my-app</a:t>
            </a:r>
            <a:endParaRPr lang="en-US" sz="950" dirty="0"/>
          </a:p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</a:t>
            </a:r>
            <a:endParaRPr lang="en-US" sz="950" dirty="0"/>
          </a:p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dev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013624" y="3056409"/>
            <a:ext cx="19800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Project Structure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013624" y="3351386"/>
            <a:ext cx="2708672" cy="853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4000"/>
              </a:lnSpc>
              <a:buSzPct val="100000"/>
              <a:buChar char="•"/>
            </a:pPr>
            <a:r>
              <a:rPr lang="en-US" sz="95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</a:t>
            </a: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— entry point</a:t>
            </a:r>
            <a:endParaRPr lang="en-US" sz="950" dirty="0"/>
          </a:p>
          <a:p>
            <a:pPr marL="342900" indent="-342900" algn="l">
              <a:lnSpc>
                <a:spcPct val="124000"/>
              </a:lnSpc>
              <a:buSzPct val="100000"/>
              <a:buChar char="•"/>
            </a:pPr>
            <a:r>
              <a:rPr lang="en-US" sz="95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src/main.jsx</a:t>
            </a: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— mounts React</a:t>
            </a:r>
            <a:endParaRPr lang="en-US" sz="950" dirty="0"/>
          </a:p>
          <a:p>
            <a:pPr marL="342900" indent="-342900" algn="l">
              <a:lnSpc>
                <a:spcPct val="124000"/>
              </a:lnSpc>
              <a:buSzPct val="100000"/>
              <a:buChar char="•"/>
            </a:pPr>
            <a:r>
              <a:rPr lang="en-US" sz="95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src/App.jsx</a:t>
            </a: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— root component</a:t>
            </a:r>
            <a:endParaRPr lang="en-US" sz="950" dirty="0"/>
          </a:p>
          <a:p>
            <a:pPr marL="342900" indent="-342900" algn="l">
              <a:lnSpc>
                <a:spcPct val="124000"/>
              </a:lnSpc>
              <a:buSzPct val="100000"/>
              <a:buChar char="•"/>
            </a:pPr>
            <a:r>
              <a:rPr lang="en-US" sz="95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package.json</a:t>
            </a: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— dependencies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013624" y="4299272"/>
            <a:ext cx="2708672" cy="367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Run </a:t>
            </a:r>
            <a:r>
              <a:rPr lang="en-US" sz="95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build</a:t>
            </a: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for a production-ready bundle.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64269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JSX Fundamentals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190774"/>
            <a:ext cx="8151763" cy="458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JSX is a syntax extension that lets you write HTML-like markup inside JavaScript. It compiles to </a:t>
            </a:r>
            <a:r>
              <a:rPr lang="en-US" sz="110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React.createElement()</a:t>
            </a: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calls under the hood.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96119" y="1950393"/>
            <a:ext cx="32907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JSX vs. HTML — Key Differences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96119" y="2313608"/>
            <a:ext cx="3902943" cy="10749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className</a:t>
            </a: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instead of </a:t>
            </a:r>
            <a:r>
              <a:rPr lang="en-US" sz="110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All tags must be closed: </a:t>
            </a:r>
            <a:r>
              <a:rPr lang="en-US" sz="110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&lt;img /&gt;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CamelCase attributes: </a:t>
            </a:r>
            <a:r>
              <a:rPr lang="en-US" sz="110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onClick</a:t>
            </a: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, </a:t>
            </a:r>
            <a:r>
              <a:rPr lang="en-US" sz="110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tabIndex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Embed JS with curly braces: </a:t>
            </a:r>
            <a:r>
              <a:rPr lang="en-US" sz="110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{name}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96119" y="3548063"/>
            <a:ext cx="3902943" cy="784324"/>
          </a:xfrm>
          <a:prstGeom prst="roundRect">
            <a:avLst>
              <a:gd name="adj" fmla="val 2711"/>
            </a:avLst>
          </a:prstGeom>
          <a:solidFill>
            <a:srgbClr val="FCF2B5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77" y="3763119"/>
            <a:ext cx="177180" cy="14175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56816" y="3711029"/>
            <a:ext cx="3300487" cy="458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JSX expressions must return a single parent. Wrap siblings in </a:t>
            </a:r>
            <a:r>
              <a:rPr lang="en-US" sz="11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&lt;&gt;...&lt;/&gt;</a:t>
            </a:r>
            <a:r>
              <a:rPr lang="en-US" sz="110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(Fragment).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49701" y="1968103"/>
            <a:ext cx="3902943" cy="2551658"/>
          </a:xfrm>
          <a:prstGeom prst="roundRect">
            <a:avLst>
              <a:gd name="adj" fmla="val 833"/>
            </a:avLst>
          </a:prstGeom>
          <a:solidFill>
            <a:srgbClr val="F2F2F2"/>
          </a:solidFill>
          <a:ln/>
        </p:spPr>
      </p:sp>
      <p:sp>
        <p:nvSpPr>
          <p:cNvPr id="10" name="Shape 7"/>
          <p:cNvSpPr/>
          <p:nvPr/>
        </p:nvSpPr>
        <p:spPr>
          <a:xfrm>
            <a:off x="4742631" y="1968103"/>
            <a:ext cx="3917082" cy="2551658"/>
          </a:xfrm>
          <a:prstGeom prst="roundRect">
            <a:avLst>
              <a:gd name="adj" fmla="val 833"/>
            </a:avLst>
          </a:prstGeom>
          <a:solidFill>
            <a:srgbClr val="F2F2F2"/>
          </a:solidFill>
          <a:ln/>
        </p:spPr>
      </p:sp>
      <p:sp>
        <p:nvSpPr>
          <p:cNvPr id="11" name="Text 8"/>
          <p:cNvSpPr/>
          <p:nvPr/>
        </p:nvSpPr>
        <p:spPr>
          <a:xfrm>
            <a:off x="4919811" y="2109862"/>
            <a:ext cx="3562722" cy="2268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Greeting() {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const name = "Alex";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return (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&lt;div className="card"&gt;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&lt;h1&gt;Hello, {name}!&lt;/h1&gt;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&lt;img src="avatar.png" /&gt;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&lt;p&gt;{2 + 2} items&lt;/p&gt;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&lt;/div&gt;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);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643" y="378842"/>
            <a:ext cx="5261595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Your First Functional Component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643" y="940147"/>
            <a:ext cx="8100640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 functional component is a JavaScript function that returns JSX. Components must start with an </a:t>
            </a:r>
            <a:r>
              <a:rPr lang="en-US" sz="9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uppercase letter</a:t>
            </a: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and can be exported and imported across files.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21643" y="1502122"/>
            <a:ext cx="3907110" cy="3153147"/>
          </a:xfrm>
          <a:prstGeom prst="roundRect">
            <a:avLst>
              <a:gd name="adj" fmla="val 558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515838" y="1502122"/>
            <a:ext cx="3918719" cy="3153147"/>
          </a:xfrm>
          <a:prstGeom prst="roundRect">
            <a:avLst>
              <a:gd name="adj" fmla="val 558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662583" y="1619473"/>
            <a:ext cx="3625230" cy="2918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// src/Welcome.jsx</a:t>
            </a:r>
            <a:endParaRPr lang="en-US" sz="9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export function Welcome() {</a:t>
            </a:r>
            <a:endParaRPr lang="en-US" sz="9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9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&lt;h1&gt;Welcome to React!&lt;/h1&gt;</a:t>
            </a:r>
            <a:endParaRPr lang="en-US" sz="9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9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marL="0" indent="0" algn="l">
              <a:lnSpc>
                <a:spcPct val="122000"/>
              </a:lnSpc>
              <a:buNone/>
            </a:pPr>
            <a:endParaRPr lang="en-US" sz="9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// src/App.jsx</a:t>
            </a:r>
            <a:endParaRPr lang="en-US" sz="9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Welcome } from './Welcome';</a:t>
            </a:r>
            <a:endParaRPr lang="en-US" sz="900" dirty="0"/>
          </a:p>
          <a:p>
            <a:pPr marL="0" indent="0" algn="l">
              <a:lnSpc>
                <a:spcPct val="122000"/>
              </a:lnSpc>
              <a:buNone/>
            </a:pPr>
            <a:endParaRPr lang="en-US" sz="9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App() {</a:t>
            </a:r>
            <a:endParaRPr lang="en-US" sz="9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9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&lt;div&gt;</a:t>
            </a:r>
            <a:endParaRPr lang="en-US" sz="9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&lt;Welcome /&gt;</a:t>
            </a:r>
            <a:endParaRPr lang="en-US" sz="9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&lt;/div&gt;</a:t>
            </a:r>
            <a:endParaRPr lang="en-US" sz="9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9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719861" y="1489993"/>
            <a:ext cx="19246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Component Rules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719861" y="1770608"/>
            <a:ext cx="3907110" cy="7934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2000"/>
              </a:lnSpc>
              <a:buSzPct val="100000"/>
              <a:buChar char="•"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Name starts with uppercase: </a:t>
            </a:r>
            <a:r>
              <a:rPr lang="en-US" sz="90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Welcome</a:t>
            </a: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</a:t>
            </a:r>
            <a:r>
              <a:rPr lang="en-US" sz="90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✅</a:t>
            </a:r>
            <a:endParaRPr lang="en-US" sz="900" dirty="0"/>
          </a:p>
          <a:p>
            <a:pPr marL="342900" indent="-342900" algn="l">
              <a:lnSpc>
                <a:spcPct val="122000"/>
              </a:lnSpc>
              <a:buSzPct val="100000"/>
              <a:buChar char="•"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Always return JSX (or </a:t>
            </a:r>
            <a:r>
              <a:rPr lang="en-US" sz="90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)</a:t>
            </a:r>
            <a:endParaRPr lang="en-US" sz="900" dirty="0"/>
          </a:p>
          <a:p>
            <a:pPr marL="342900" indent="-342900" algn="l">
              <a:lnSpc>
                <a:spcPct val="122000"/>
              </a:lnSpc>
              <a:buSzPct val="100000"/>
              <a:buChar char="•"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One file = one component (convention)</a:t>
            </a:r>
            <a:endParaRPr lang="en-US" sz="900" dirty="0"/>
          </a:p>
          <a:p>
            <a:pPr marL="342900" indent="-342900" algn="l">
              <a:lnSpc>
                <a:spcPct val="122000"/>
              </a:lnSpc>
              <a:buSzPct val="100000"/>
              <a:buChar char="•"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Reuse anywhere: </a:t>
            </a:r>
            <a:r>
              <a:rPr lang="en-US" sz="90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&lt;Welcome /&gt;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19861" y="2673400"/>
            <a:ext cx="3907110" cy="576858"/>
          </a:xfrm>
          <a:prstGeom prst="roundRect">
            <a:avLst>
              <a:gd name="adj" fmla="val 3053"/>
            </a:avLst>
          </a:prstGeom>
          <a:solidFill>
            <a:srgbClr val="B6D6FC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7212" y="2845966"/>
            <a:ext cx="146745" cy="117351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101307" y="2790155"/>
            <a:ext cx="3408313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Think of components as custom HTML tags that encapsulate their own UI logic.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3759" y="347737"/>
            <a:ext cx="5986835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Props: Passing Data Between Components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903759" y="839465"/>
            <a:ext cx="7793608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Props (short for </a:t>
            </a:r>
            <a:r>
              <a:rPr lang="en-US" sz="800" i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properties</a:t>
            </a:r>
            <a:r>
              <a:rPr lang="en-US" sz="8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) are how data flows from parent to child. They are </a:t>
            </a:r>
            <a:r>
              <a:rPr lang="en-US" sz="8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read-only</a:t>
            </a:r>
            <a:r>
              <a:rPr lang="en-US" sz="8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— a child can never modify its own props.</a:t>
            </a:r>
            <a:endParaRPr lang="en-US" sz="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759" y="1167631"/>
            <a:ext cx="3538463" cy="353846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06392" y="1322412"/>
            <a:ext cx="2162324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Passing &amp; Receiving Props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706392" y="1578173"/>
            <a:ext cx="3538463" cy="2593777"/>
          </a:xfrm>
          <a:prstGeom prst="roundRect">
            <a:avLst>
              <a:gd name="adj" fmla="val 615"/>
            </a:avLst>
          </a:prstGeom>
          <a:solidFill>
            <a:srgbClr val="F2F2F2"/>
          </a:solidFill>
          <a:ln/>
        </p:spPr>
      </p:sp>
      <p:sp>
        <p:nvSpPr>
          <p:cNvPr id="7" name="Shape 4"/>
          <p:cNvSpPr/>
          <p:nvPr/>
        </p:nvSpPr>
        <p:spPr>
          <a:xfrm>
            <a:off x="4701108" y="1578173"/>
            <a:ext cx="3549030" cy="2593777"/>
          </a:xfrm>
          <a:prstGeom prst="roundRect">
            <a:avLst>
              <a:gd name="adj" fmla="val 615"/>
            </a:avLst>
          </a:prstGeom>
          <a:solidFill>
            <a:srgbClr val="F2F2F2"/>
          </a:solidFill>
          <a:ln/>
        </p:spPr>
      </p:sp>
      <p:sp>
        <p:nvSpPr>
          <p:cNvPr id="8" name="Text 5"/>
          <p:cNvSpPr/>
          <p:nvPr/>
        </p:nvSpPr>
        <p:spPr>
          <a:xfrm>
            <a:off x="4834012" y="1684437"/>
            <a:ext cx="3283223" cy="2381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// Parent</a:t>
            </a:r>
            <a:endParaRPr lang="en-US" sz="8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&lt;UserCard</a:t>
            </a:r>
            <a:endParaRPr lang="en-US" sz="8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name="Sam Rivera"</a:t>
            </a:r>
            <a:endParaRPr lang="en-US" sz="8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role="Developer"</a:t>
            </a:r>
            <a:endParaRPr lang="en-US" sz="8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isActive={true}</a:t>
            </a:r>
            <a:endParaRPr lang="en-US" sz="8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endParaRPr lang="en-US" sz="800" dirty="0"/>
          </a:p>
          <a:p>
            <a:pPr marL="0" indent="0" algn="l">
              <a:lnSpc>
                <a:spcPct val="117000"/>
              </a:lnSpc>
              <a:buNone/>
            </a:pPr>
            <a:endParaRPr lang="en-US" sz="8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// Child</a:t>
            </a:r>
            <a:endParaRPr lang="en-US" sz="8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UserCard({ name, role }) {</a:t>
            </a:r>
            <a:endParaRPr lang="en-US" sz="8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8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&lt;div&gt;</a:t>
            </a:r>
            <a:endParaRPr lang="en-US" sz="8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&lt;h3&gt;{name}&lt;/h3&gt;</a:t>
            </a:r>
            <a:endParaRPr lang="en-US" sz="8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&lt;p&gt;{role}&lt;/p&gt;</a:t>
            </a:r>
            <a:endParaRPr lang="en-US" sz="8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&lt;/div&gt;</a:t>
            </a:r>
            <a:endParaRPr lang="en-US" sz="8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8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706392" y="4261619"/>
            <a:ext cx="3538463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Destructure props in the function signature for cleaner code. Pass functions as props for child-to-parent callbacks.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643" y="352648"/>
            <a:ext cx="5696545" cy="419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Rendering Lists with </a:t>
            </a:r>
            <a:r>
              <a:rPr lang="en-US" sz="230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map()</a:t>
            </a:r>
            <a:r>
              <a:rPr lang="en-US" sz="23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and Keys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643" y="966341"/>
            <a:ext cx="8100640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Use JavaScript's </a:t>
            </a:r>
            <a:r>
              <a:rPr lang="en-US" sz="90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map()</a:t>
            </a: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inside JSX to transform an array of data into an array of components. Each item needs a unique </a:t>
            </a:r>
            <a:r>
              <a:rPr lang="en-US" sz="90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key</a:t>
            </a: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prop so React can track it efficiently during re-renders.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21643" y="1528316"/>
            <a:ext cx="3907110" cy="3153147"/>
          </a:xfrm>
          <a:prstGeom prst="roundRect">
            <a:avLst>
              <a:gd name="adj" fmla="val 558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515838" y="1528316"/>
            <a:ext cx="3918719" cy="3153147"/>
          </a:xfrm>
          <a:prstGeom prst="roundRect">
            <a:avLst>
              <a:gd name="adj" fmla="val 558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662583" y="1645667"/>
            <a:ext cx="3625230" cy="2918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UserList() {</a:t>
            </a:r>
            <a:endParaRPr lang="en-US" sz="9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users = [</a:t>
            </a:r>
            <a:endParaRPr lang="en-US" sz="9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{ id: 1, name: "Alex" },</a:t>
            </a:r>
            <a:endParaRPr lang="en-US" sz="9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{ id: 2, name: "Sam" },</a:t>
            </a:r>
            <a:endParaRPr lang="en-US" sz="9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{ id: 3, name: "Jordan" }</a:t>
            </a:r>
            <a:endParaRPr lang="en-US" sz="9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];</a:t>
            </a:r>
            <a:endParaRPr lang="en-US" sz="900" dirty="0"/>
          </a:p>
          <a:p>
            <a:pPr marL="0" indent="0" algn="l">
              <a:lnSpc>
                <a:spcPct val="122000"/>
              </a:lnSpc>
              <a:buNone/>
            </a:pPr>
            <a:endParaRPr lang="en-US" sz="9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9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&lt;ul&gt;</a:t>
            </a:r>
            <a:endParaRPr lang="en-US" sz="9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{users.map(user =&gt; (</a:t>
            </a:r>
            <a:endParaRPr lang="en-US" sz="9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&lt;li key={user.id}&gt;</a:t>
            </a:r>
            <a:endParaRPr lang="en-US" sz="9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{user.name}</a:t>
            </a:r>
            <a:endParaRPr lang="en-US" sz="9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&lt;/li&gt;</a:t>
            </a:r>
            <a:endParaRPr lang="en-US" sz="9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))}</a:t>
            </a:r>
            <a:endParaRPr lang="en-US" sz="9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&lt;/ul&gt;</a:t>
            </a:r>
            <a:endParaRPr lang="en-US" sz="9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9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719861" y="1516187"/>
            <a:ext cx="19246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Key Best Practices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719861" y="1796802"/>
            <a:ext cx="3907110" cy="583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2000"/>
              </a:lnSpc>
              <a:buSzPct val="100000"/>
              <a:buChar char="•"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Use a stable, unique ID — </a:t>
            </a:r>
            <a:r>
              <a:rPr lang="en-US" sz="9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not</a:t>
            </a: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the array index</a:t>
            </a:r>
            <a:endParaRPr lang="en-US" sz="900" dirty="0"/>
          </a:p>
          <a:p>
            <a:pPr marL="342900" indent="-342900" algn="l">
              <a:lnSpc>
                <a:spcPct val="122000"/>
              </a:lnSpc>
              <a:buSzPct val="100000"/>
              <a:buChar char="•"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Keys help React detect additions, removals, and reorders</a:t>
            </a:r>
            <a:endParaRPr lang="en-US" sz="900" dirty="0"/>
          </a:p>
          <a:p>
            <a:pPr marL="342900" indent="-342900" algn="l">
              <a:lnSpc>
                <a:spcPct val="122000"/>
              </a:lnSpc>
              <a:buSzPct val="100000"/>
              <a:buChar char="•"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Missing or duplicate keys cause subtle bugs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19861" y="2489150"/>
            <a:ext cx="3907110" cy="405185"/>
          </a:xfrm>
          <a:prstGeom prst="roundRect">
            <a:avLst>
              <a:gd name="adj" fmla="val 4346"/>
            </a:avLst>
          </a:prstGeom>
          <a:solidFill>
            <a:srgbClr val="FCF2B5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7212" y="2661717"/>
            <a:ext cx="146745" cy="117351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101307" y="2605906"/>
            <a:ext cx="3865513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Using index as key is only safe for static, unsorted lists.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0840" y="462558"/>
            <a:ext cx="3392165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Hands-On Exercise</a:t>
            </a:r>
            <a:endParaRPr lang="en-US" sz="2300" dirty="0"/>
          </a:p>
        </p:txBody>
      </p:sp>
      <p:sp>
        <p:nvSpPr>
          <p:cNvPr id="4" name="Text 1"/>
          <p:cNvSpPr/>
          <p:nvPr/>
        </p:nvSpPr>
        <p:spPr>
          <a:xfrm>
            <a:off x="410840" y="975196"/>
            <a:ext cx="4893320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Build a </a:t>
            </a:r>
            <a:r>
              <a:rPr lang="en-US" sz="90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UserCard</a:t>
            </a: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component, pass user data via props, and render a list of users with </a:t>
            </a:r>
            <a:r>
              <a:rPr lang="en-US" sz="90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map()</a:t>
            </a: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and unique keys.</a:t>
            </a:r>
            <a:endParaRPr lang="en-US" sz="9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0840" y="1427857"/>
            <a:ext cx="4893320" cy="70440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71872" y="1670000"/>
            <a:ext cx="176064" cy="2201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1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991865" y="1559496"/>
            <a:ext cx="1467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Create UserCard.jsx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991865" y="1801192"/>
            <a:ext cx="4180656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Accept </a:t>
            </a:r>
            <a:r>
              <a:rPr lang="en-US" sz="90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, </a:t>
            </a:r>
            <a:r>
              <a:rPr lang="en-US" sz="90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, and </a:t>
            </a:r>
            <a:r>
              <a:rPr lang="en-US" sz="90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role</a:t>
            </a: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as props. Return a styled card with JSX.</a:t>
            </a:r>
            <a:endParaRPr lang="en-US" sz="9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0840" y="2229445"/>
            <a:ext cx="4893320" cy="70440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71872" y="2471589"/>
            <a:ext cx="176064" cy="2201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2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991865" y="2361084"/>
            <a:ext cx="1467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Prepare User Data</a:t>
            </a:r>
            <a:endParaRPr lang="en-US" sz="1150" dirty="0"/>
          </a:p>
        </p:txBody>
      </p:sp>
      <p:sp>
        <p:nvSpPr>
          <p:cNvPr id="12" name="Text 7"/>
          <p:cNvSpPr/>
          <p:nvPr/>
        </p:nvSpPr>
        <p:spPr>
          <a:xfrm>
            <a:off x="991865" y="2602781"/>
            <a:ext cx="4180656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In </a:t>
            </a:r>
            <a:r>
              <a:rPr lang="en-US" sz="90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App.jsx</a:t>
            </a: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, define an array of 3+ user objects with </a:t>
            </a:r>
            <a:r>
              <a:rPr lang="en-US" sz="90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, </a:t>
            </a:r>
            <a:r>
              <a:rPr lang="en-US" sz="90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, </a:t>
            </a:r>
            <a:r>
              <a:rPr lang="en-US" sz="90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, and </a:t>
            </a:r>
            <a:r>
              <a:rPr lang="en-US" sz="90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role</a:t>
            </a: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.</a:t>
            </a:r>
            <a:endParaRPr lang="en-US" sz="9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0840" y="3031034"/>
            <a:ext cx="4893320" cy="70440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71872" y="3273177"/>
            <a:ext cx="176064" cy="2201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3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991865" y="3162672"/>
            <a:ext cx="1467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Render the List</a:t>
            </a:r>
            <a:endParaRPr lang="en-US" sz="1150" dirty="0"/>
          </a:p>
        </p:txBody>
      </p:sp>
      <p:sp>
        <p:nvSpPr>
          <p:cNvPr id="16" name="Text 10"/>
          <p:cNvSpPr/>
          <p:nvPr/>
        </p:nvSpPr>
        <p:spPr>
          <a:xfrm>
            <a:off x="991865" y="3404369"/>
            <a:ext cx="4180656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Use </a:t>
            </a:r>
            <a:r>
              <a:rPr lang="en-US" sz="90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map()</a:t>
            </a: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to render a </a:t>
            </a:r>
            <a:r>
              <a:rPr lang="en-US" sz="90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&lt;UserCard /&gt;</a:t>
            </a: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for each user. Pass </a:t>
            </a:r>
            <a:r>
              <a:rPr lang="en-US" sz="90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key={user.id}</a:t>
            </a: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.</a:t>
            </a:r>
            <a:endParaRPr lang="en-US" sz="9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0840" y="3832622"/>
            <a:ext cx="4893320" cy="84832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71872" y="4146724"/>
            <a:ext cx="176064" cy="2201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4</a:t>
            </a:r>
            <a:endParaRPr lang="en-US" sz="1350" dirty="0"/>
          </a:p>
        </p:txBody>
      </p:sp>
      <p:sp>
        <p:nvSpPr>
          <p:cNvPr id="19" name="Text 12"/>
          <p:cNvSpPr/>
          <p:nvPr/>
        </p:nvSpPr>
        <p:spPr>
          <a:xfrm>
            <a:off x="991865" y="3964260"/>
            <a:ext cx="1467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Stretch Goal</a:t>
            </a:r>
            <a:endParaRPr lang="en-US" sz="1150" dirty="0"/>
          </a:p>
        </p:txBody>
      </p:sp>
      <p:sp>
        <p:nvSpPr>
          <p:cNvPr id="20" name="Text 13"/>
          <p:cNvSpPr/>
          <p:nvPr/>
        </p:nvSpPr>
        <p:spPr>
          <a:xfrm>
            <a:off x="991865" y="4205957"/>
            <a:ext cx="4180656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Add an </a:t>
            </a:r>
            <a:r>
              <a:rPr lang="en-US" sz="90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isActive</a:t>
            </a: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prop. Conditionally apply a CSS class or render an "Active" badge.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5162" y="369615"/>
            <a:ext cx="4256410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Summary &amp; Next Steps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65162" y="1034058"/>
            <a:ext cx="8670875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You now have the foundation to build real React apps. Here's what you've learned — and where to go next.</a:t>
            </a:r>
            <a:endParaRPr lang="en-US" sz="1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4945" y="1524372"/>
            <a:ext cx="199355" cy="19935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97062" y="1520279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Virtual DOM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97062" y="1852538"/>
            <a:ext cx="3512865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React's fast diffing engine minimizes real DOM updates.</a:t>
            </a:r>
            <a:endParaRPr lang="en-US" sz="1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4945" y="2311747"/>
            <a:ext cx="199355" cy="19935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97062" y="2307654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JSX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897062" y="2639913"/>
            <a:ext cx="3512865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HTML-like syntax inside JavaScript with embedded expressions.</a:t>
            </a:r>
            <a:endParaRPr lang="en-US" sz="10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4945" y="3305101"/>
            <a:ext cx="199355" cy="19935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97062" y="3301008"/>
            <a:ext cx="1735038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Components &amp; Props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897062" y="3633267"/>
            <a:ext cx="3512865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Reusable building blocks with one-way data flow.</a:t>
            </a:r>
            <a:endParaRPr lang="en-US" sz="10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4945" y="4092476"/>
            <a:ext cx="199355" cy="19935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97062" y="4088383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List Rendering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897062" y="4420642"/>
            <a:ext cx="3512865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Dynamic UIs via </a:t>
            </a:r>
            <a:r>
              <a:rPr lang="en-US" sz="100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map()</a:t>
            </a:r>
            <a:r>
              <a:rPr lang="en-US" sz="1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and unique keys.</a:t>
            </a:r>
            <a:endParaRPr lang="en-US" sz="1000" dirty="0"/>
          </a:p>
        </p:txBody>
      </p:sp>
      <p:sp>
        <p:nvSpPr>
          <p:cNvPr id="16" name="Text 10"/>
          <p:cNvSpPr/>
          <p:nvPr/>
        </p:nvSpPr>
        <p:spPr>
          <a:xfrm>
            <a:off x="4738836" y="1504727"/>
            <a:ext cx="21184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What to Learn Next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4738836" y="1852538"/>
            <a:ext cx="1910060" cy="1010022"/>
          </a:xfrm>
          <a:prstGeom prst="roundRect">
            <a:avLst>
              <a:gd name="adj" fmla="val 1974"/>
            </a:avLst>
          </a:prstGeom>
          <a:solidFill>
            <a:srgbClr val="F9F7F7"/>
          </a:solidFill>
          <a:ln/>
        </p:spPr>
      </p:sp>
      <p:sp>
        <p:nvSpPr>
          <p:cNvPr id="18" name="Text 12"/>
          <p:cNvSpPr/>
          <p:nvPr/>
        </p:nvSpPr>
        <p:spPr>
          <a:xfrm>
            <a:off x="4871740" y="1985442"/>
            <a:ext cx="1644253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useState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4871740" y="2317700"/>
            <a:ext cx="1644253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Add interactive state to components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6773466" y="1852538"/>
            <a:ext cx="1910135" cy="1010022"/>
          </a:xfrm>
          <a:prstGeom prst="roundRect">
            <a:avLst>
              <a:gd name="adj" fmla="val 1974"/>
            </a:avLst>
          </a:prstGeom>
          <a:solidFill>
            <a:srgbClr val="F9F7F7"/>
          </a:solidFill>
          <a:ln/>
        </p:spPr>
      </p:sp>
      <p:sp>
        <p:nvSpPr>
          <p:cNvPr id="21" name="Text 15"/>
          <p:cNvSpPr/>
          <p:nvPr/>
        </p:nvSpPr>
        <p:spPr>
          <a:xfrm>
            <a:off x="6906369" y="1985442"/>
            <a:ext cx="1644328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useEffect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6906369" y="2317700"/>
            <a:ext cx="1644328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Handle side effects and data fetching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4738836" y="2987129"/>
            <a:ext cx="3944764" cy="804044"/>
          </a:xfrm>
          <a:prstGeom prst="roundRect">
            <a:avLst>
              <a:gd name="adj" fmla="val 2479"/>
            </a:avLst>
          </a:prstGeom>
          <a:solidFill>
            <a:srgbClr val="F9F7F7"/>
          </a:solidFill>
          <a:ln/>
        </p:spPr>
      </p:sp>
      <p:sp>
        <p:nvSpPr>
          <p:cNvPr id="24" name="Text 18"/>
          <p:cNvSpPr/>
          <p:nvPr/>
        </p:nvSpPr>
        <p:spPr>
          <a:xfrm>
            <a:off x="4871740" y="3120033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React Router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871740" y="3452292"/>
            <a:ext cx="3678957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Multi-page navigation in a SPA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4738836" y="3931295"/>
            <a:ext cx="3944764" cy="702469"/>
          </a:xfrm>
          <a:prstGeom prst="roundRect">
            <a:avLst>
              <a:gd name="adj" fmla="val 2838"/>
            </a:avLst>
          </a:prstGeom>
          <a:solidFill>
            <a:srgbClr val="B6FCB8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1740" y="4128715"/>
            <a:ext cx="166092" cy="13290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170736" y="4076551"/>
            <a:ext cx="3379961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Official docs at </a:t>
            </a:r>
            <a:r>
              <a:rPr lang="en-US" sz="1000" b="1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react.dev</a:t>
            </a:r>
            <a:r>
              <a:rPr lang="en-US" sz="100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— the best free resource for learning React.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1114</Words>
  <Application>Microsoft Office PowerPoint</Application>
  <PresentationFormat>On-screen Show (16:9)</PresentationFormat>
  <Paragraphs>162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Platypi Medium</vt:lpstr>
      <vt:lpstr>Arial</vt:lpstr>
      <vt:lpstr>Consolas</vt:lpstr>
      <vt:lpstr>Source Serif 4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dubakula avinash</cp:lastModifiedBy>
  <cp:revision>6</cp:revision>
  <dcterms:created xsi:type="dcterms:W3CDTF">2026-06-09T09:16:31Z</dcterms:created>
  <dcterms:modified xsi:type="dcterms:W3CDTF">2026-06-09T17:05:14Z</dcterms:modified>
</cp:coreProperties>
</file>