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latypi Medium" panose="020B0604020202020204" charset="0"/>
      <p:regular r:id="rId17"/>
    </p:embeddedFont>
    <p:embeddedFont>
      <p:font typeface="Source Serif 4" panose="020B060402020202020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86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-2-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2-5.svg"/><Relationship Id="rId5" Type="http://schemas.openxmlformats.org/officeDocument/2006/relationships/image" Target="../media/image-2-3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6.sv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image" Target="../media/image-10-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10-4.svg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openxmlformats.org/officeDocument/2006/relationships/image" Target="../media/image-10-8.svg"/><Relationship Id="rId4" Type="http://schemas.openxmlformats.org/officeDocument/2006/relationships/image" Target="../media/image-10-2.sv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6454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 Component Composition &amp; Reusability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56311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practical, code-focused guide to building flexible, maintainable React applications — mastering composition, shared state, and reusable component design.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407792"/>
            <a:ext cx="1133773" cy="266402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</p:sp>
      <p:sp>
        <p:nvSpPr>
          <p:cNvPr id="7" name="Text 4"/>
          <p:cNvSpPr/>
          <p:nvPr/>
        </p:nvSpPr>
        <p:spPr>
          <a:xfrm>
            <a:off x="581174" y="3450282"/>
            <a:ext cx="142086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TRAINING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700733" y="3403029"/>
            <a:ext cx="173637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90551" y="3450282"/>
            <a:ext cx="201394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FUNCTIONAL COMPONENTS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507953" y="3403029"/>
            <a:ext cx="1285577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97771" y="3450282"/>
            <a:ext cx="156314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MODERN PATTERNS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01154"/>
            <a:ext cx="5493321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 to Component Composition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9" y="796528"/>
            <a:ext cx="3317304" cy="3317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8281" y="2251472"/>
            <a:ext cx="3317304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Composition is React's core pattern: build complex UIs by combining small, focused components. Each piece is independent, testable, and reusable.</a:t>
            </a:r>
            <a:endParaRPr lang="en-US" sz="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18741" y="4271442"/>
            <a:ext cx="2260178" cy="5709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9819" y="4385370"/>
            <a:ext cx="124598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🧩</a:t>
            </a:r>
            <a:r>
              <a:rPr lang="en-US" sz="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Reusability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289819" y="4592613"/>
            <a:ext cx="1975172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Write once, use everywhere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434655" y="4271442"/>
            <a:ext cx="2260253" cy="5709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05733" y="4385370"/>
            <a:ext cx="124598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🔬</a:t>
            </a:r>
            <a:r>
              <a:rPr lang="en-US" sz="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Testability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3605733" y="4592613"/>
            <a:ext cx="197524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Isolated components are easy to test</a:t>
            </a:r>
            <a:endParaRPr lang="en-US" sz="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750644" y="4271442"/>
            <a:ext cx="2260253" cy="5709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21722" y="4385370"/>
            <a:ext cx="124598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📐</a:t>
            </a:r>
            <a:r>
              <a:rPr lang="en-US" sz="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Maintainability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5921722" y="4592613"/>
            <a:ext cx="1975247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Changes stay localized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48853"/>
            <a:ext cx="3447604" cy="426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</a:t>
            </a:r>
            <a:r>
              <a:rPr lang="en-US" sz="23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Prop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45219" y="976833"/>
            <a:ext cx="8253487" cy="357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React component receives a special prop —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containing whatever is placed between its opening and closing tags. This is the foundation of flexible component design.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45219" y="1548705"/>
            <a:ext cx="31321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Defining a Component with children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5219" y="1849041"/>
            <a:ext cx="3980780" cy="1473696"/>
          </a:xfrm>
          <a:prstGeom prst="roundRect">
            <a:avLst>
              <a:gd name="adj" fmla="val 1218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39266" y="1849041"/>
            <a:ext cx="3992687" cy="1473696"/>
          </a:xfrm>
          <a:prstGeom prst="roundRect">
            <a:avLst>
              <a:gd name="adj" fmla="val 121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588764" y="1968624"/>
            <a:ext cx="3693691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Card({ children }) {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className="card"&gt;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{children}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5219" y="3436218"/>
            <a:ext cx="205725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Using the Component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5219" y="3736553"/>
            <a:ext cx="3980780" cy="944612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39266" y="3736553"/>
            <a:ext cx="3992687" cy="944612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588764" y="3856137"/>
            <a:ext cx="3693691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&lt;Card&gt;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&lt;h2&gt;Hello, World!&lt;/h2&gt;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&lt;p&gt;Any JSX goes here.&lt;/p&gt;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&lt;/Card&gt;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22614" y="1548705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22614" y="1849041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22614" y="2037978"/>
            <a:ext cx="3980780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5" name="Text 13"/>
          <p:cNvSpPr/>
          <p:nvPr/>
        </p:nvSpPr>
        <p:spPr>
          <a:xfrm>
            <a:off x="4722614" y="212630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Parent passes JSX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22614" y="2414067"/>
            <a:ext cx="3980780" cy="1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Content between tags becomes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2614" y="2785765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22614" y="2974702"/>
            <a:ext cx="3980780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9" name="Text 17"/>
          <p:cNvSpPr/>
          <p:nvPr/>
        </p:nvSpPr>
        <p:spPr>
          <a:xfrm>
            <a:off x="4722614" y="306303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Child receives 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22614" y="3350791"/>
            <a:ext cx="398078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Destructured from props like any value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22614" y="3717727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22614" y="3906664"/>
            <a:ext cx="3980780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3" name="Text 21"/>
          <p:cNvSpPr/>
          <p:nvPr/>
        </p:nvSpPr>
        <p:spPr>
          <a:xfrm>
            <a:off x="4722614" y="3994993"/>
            <a:ext cx="161634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Rendered dynamically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22614" y="4282753"/>
            <a:ext cx="3980780" cy="1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Placed with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{children}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 the JSX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1951"/>
            <a:ext cx="6239694" cy="504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Real-World Use Cases for </a:t>
            </a:r>
            <a:r>
              <a:rPr lang="en-US" sz="27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50368"/>
            <a:ext cx="860896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prop powers the most flexible patterns in React — from layout shells to interactive modals.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41413"/>
            <a:ext cx="838200" cy="5179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8365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Layout Components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96119" y="3217515"/>
            <a:ext cx="1905000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489049" y="3217515"/>
            <a:ext cx="1919139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66229" y="3359274"/>
            <a:ext cx="156477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&lt;Sidebar&gt;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&lt;NavItem /&gt;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&lt;/Sidebar&gt;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141413"/>
            <a:ext cx="838200" cy="5179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78298" y="28365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Modals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578298" y="3217515"/>
            <a:ext cx="1905074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2" name="Shape 8"/>
          <p:cNvSpPr/>
          <p:nvPr/>
        </p:nvSpPr>
        <p:spPr>
          <a:xfrm>
            <a:off x="2571229" y="3217515"/>
            <a:ext cx="1919213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/>
          <p:nvPr/>
        </p:nvSpPr>
        <p:spPr>
          <a:xfrm>
            <a:off x="2748409" y="3359274"/>
            <a:ext cx="156485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&lt;Modal&gt;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&lt;ConfirmDialog /&gt;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&lt;/Modal&gt;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141413"/>
            <a:ext cx="838200" cy="5179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0553" y="28365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Cards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660553" y="3217515"/>
            <a:ext cx="1905074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7" name="Shape 12"/>
          <p:cNvSpPr/>
          <p:nvPr/>
        </p:nvSpPr>
        <p:spPr>
          <a:xfrm>
            <a:off x="4653483" y="3217515"/>
            <a:ext cx="1919213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18" name="Text 13"/>
          <p:cNvSpPr/>
          <p:nvPr/>
        </p:nvSpPr>
        <p:spPr>
          <a:xfrm>
            <a:off x="4830663" y="3359274"/>
            <a:ext cx="156485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&lt;Card&gt;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&lt;ProductInfo /&gt;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&lt;/Card&gt;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141413"/>
            <a:ext cx="838200" cy="5179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42807" y="28365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Wrappers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742807" y="3217515"/>
            <a:ext cx="1905074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22" name="Shape 16"/>
          <p:cNvSpPr/>
          <p:nvPr/>
        </p:nvSpPr>
        <p:spPr>
          <a:xfrm>
            <a:off x="6735738" y="3217515"/>
            <a:ext cx="1919213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23" name="Text 17"/>
          <p:cNvSpPr/>
          <p:nvPr/>
        </p:nvSpPr>
        <p:spPr>
          <a:xfrm>
            <a:off x="6912918" y="3359274"/>
            <a:ext cx="156485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&lt;FeaturedList /&gt;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27868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Lifting State Up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966639"/>
            <a:ext cx="3685952" cy="3685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1750" y="890215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11750" y="1149697"/>
            <a:ext cx="368595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Sibling components cannot directly share state. The solution: lift shared state to their </a:t>
            </a: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common parent</a:t>
            </a: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then pass it down via props.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1750" y="1551682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Pattern in Code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11750" y="1822028"/>
            <a:ext cx="3685952" cy="2272308"/>
          </a:xfrm>
          <a:prstGeom prst="roundRect">
            <a:avLst>
              <a:gd name="adj" fmla="val 731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4706243" y="1822028"/>
            <a:ext cx="3696965" cy="2272308"/>
          </a:xfrm>
          <a:prstGeom prst="roundRect">
            <a:avLst>
              <a:gd name="adj" fmla="val 731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4844653" y="1932756"/>
            <a:ext cx="3420145" cy="2050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[term, setTerm] = useState("");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&lt;SearchInput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value={term}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onChange={setTerm}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&lt;ResultsList search={term} /&gt;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11750" y="4191670"/>
            <a:ext cx="3685952" cy="526554"/>
          </a:xfrm>
          <a:prstGeom prst="roundRect">
            <a:avLst>
              <a:gd name="adj" fmla="val 3155"/>
            </a:avLst>
          </a:prstGeom>
          <a:solidFill>
            <a:srgbClr val="B6D6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478" y="4347493"/>
            <a:ext cx="138410" cy="110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1616" y="4297189"/>
            <a:ext cx="321535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Rule of thumb: When two components need the same data, lift it to their nearest common ancestor.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33673"/>
            <a:ext cx="30045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 Drilling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6605" y="1295549"/>
            <a:ext cx="184963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Prop Drilling?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6605" y="1528018"/>
            <a:ext cx="3391049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Passing props through multiple intermediate components that don't need them — just to reach a deeply nested child.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56605" y="1890489"/>
            <a:ext cx="3391049" cy="1884313"/>
          </a:xfrm>
          <a:prstGeom prst="roundRect">
            <a:avLst>
              <a:gd name="adj" fmla="val 811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45" y="1890489"/>
            <a:ext cx="3401169" cy="1884313"/>
          </a:xfrm>
          <a:prstGeom prst="roundRect">
            <a:avLst>
              <a:gd name="adj" fmla="val 811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1178868" y="1992362"/>
            <a:ext cx="3146524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{ name: "Alex" };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&lt;Layout user={user} /&gt;;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Layout({ user })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&lt;Header user={user} /&gt;;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Header({ user })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&lt;span&gt;Hi, {user.name}&lt;/span&gt;;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960" y="844228"/>
            <a:ext cx="3391049" cy="33910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56605" y="4400029"/>
            <a:ext cx="7030715" cy="327422"/>
          </a:xfrm>
          <a:prstGeom prst="roundRect">
            <a:avLst>
              <a:gd name="adj" fmla="val 4668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478" y="4533454"/>
            <a:ext cx="127322" cy="1018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7673" y="4491335"/>
            <a:ext cx="705497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Smell:</a:t>
            </a:r>
            <a:r>
              <a:rPr lang="en-US" sz="8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More than 2–3 levels of drilling signals a need for </a:t>
            </a: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API</a:t>
            </a:r>
            <a:r>
              <a:rPr lang="en-US" sz="8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or component restructuring.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45728"/>
            <a:ext cx="4674840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Building Reusable Components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64840"/>
            <a:ext cx="8099301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Design components with a clear API: accept props, render </a:t>
            </a:r>
            <a:r>
              <a:rPr lang="en-US" sz="8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and stay flexible.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50912" y="1211163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Reusable Button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50912" y="1481510"/>
            <a:ext cx="3685952" cy="2430066"/>
          </a:xfrm>
          <a:prstGeom prst="roundRect">
            <a:avLst>
              <a:gd name="adj" fmla="val 684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45406" y="1481510"/>
            <a:ext cx="3696965" cy="2430066"/>
          </a:xfrm>
          <a:prstGeom prst="roundRect">
            <a:avLst>
              <a:gd name="adj" fmla="val 684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83816" y="1592238"/>
            <a:ext cx="3420145" cy="220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Button({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children,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variant = "primary",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onClick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 {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className={`btn btn-${variant}`}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onClick={onClick}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{children}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&lt;/button&gt;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11750" y="1211163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Reusable Card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11750" y="1481510"/>
            <a:ext cx="3685952" cy="3218855"/>
          </a:xfrm>
          <a:prstGeom prst="roundRect">
            <a:avLst>
              <a:gd name="adj" fmla="val 516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6243" y="1481510"/>
            <a:ext cx="3696965" cy="3218855"/>
          </a:xfrm>
          <a:prstGeom prst="roundRect">
            <a:avLst>
              <a:gd name="adj" fmla="val 51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4844653" y="1592238"/>
            <a:ext cx="3420145" cy="299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Card({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title,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children,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footer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 {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(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className="card"&gt;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&lt;h3&gt;{title}&lt;/h3&gt;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className="card-body"&gt;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{children}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{footer &amp;&amp; (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className="card-footer"&gt;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{footer}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)}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);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93278"/>
            <a:ext cx="362195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Styling Components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12701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Two dominant approaches in modern React — each with distinct trade-offs.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50937" y="1330151"/>
            <a:ext cx="4157960" cy="3419996"/>
          </a:xfrm>
          <a:prstGeom prst="roundRect">
            <a:avLst>
              <a:gd name="adj" fmla="val 554"/>
            </a:avLst>
          </a:prstGeom>
          <a:solidFill>
            <a:srgbClr val="3E2513"/>
          </a:solidFill>
          <a:ln/>
        </p:spPr>
      </p:sp>
      <p:sp>
        <p:nvSpPr>
          <p:cNvPr id="5" name="Text 3"/>
          <p:cNvSpPr/>
          <p:nvPr/>
        </p:nvSpPr>
        <p:spPr>
          <a:xfrm>
            <a:off x="477143" y="1442591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CSS Modules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7143" y="1752302"/>
            <a:ext cx="43627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Scoped CSS files — no class name collisions.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7143" y="2069753"/>
            <a:ext cx="3905548" cy="1970931"/>
          </a:xfrm>
          <a:prstGeom prst="roundRect">
            <a:avLst>
              <a:gd name="adj" fmla="val 961"/>
            </a:avLst>
          </a:prstGeom>
          <a:solidFill>
            <a:srgbClr val="4B3220"/>
          </a:solidFill>
          <a:ln/>
        </p:spPr>
      </p:sp>
      <p:sp>
        <p:nvSpPr>
          <p:cNvPr id="8" name="Shape 6"/>
          <p:cNvSpPr/>
          <p:nvPr/>
        </p:nvSpPr>
        <p:spPr>
          <a:xfrm>
            <a:off x="470892" y="2069753"/>
            <a:ext cx="3918049" cy="1970931"/>
          </a:xfrm>
          <a:prstGeom prst="roundRect">
            <a:avLst>
              <a:gd name="adj" fmla="val 961"/>
            </a:avLst>
          </a:prstGeom>
          <a:solidFill>
            <a:srgbClr val="4B3220"/>
          </a:solidFill>
          <a:ln/>
        </p:spPr>
      </p:sp>
      <p:sp>
        <p:nvSpPr>
          <p:cNvPr id="9" name="Text 7"/>
          <p:cNvSpPr/>
          <p:nvPr/>
        </p:nvSpPr>
        <p:spPr>
          <a:xfrm>
            <a:off x="628650" y="2195959"/>
            <a:ext cx="3602534" cy="1718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4B3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 Card.module.css */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4B3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4B3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8px;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4B3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0 2px 4px rgba(0,0,0,0.1);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4B3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4B3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 Component */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4B3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styles from './Card.module.css';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A737D"/>
                </a:solidFill>
                <a:highlight>
                  <a:srgbClr val="4B3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className={styles.card} /&gt;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30800" y="1442591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0800" y="1752302"/>
            <a:ext cx="441320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Utility-first — styles live directly in JSX.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0800" y="2069753"/>
            <a:ext cx="3976092" cy="1779984"/>
          </a:xfrm>
          <a:prstGeom prst="roundRect">
            <a:avLst>
              <a:gd name="adj" fmla="val 1064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4549" y="2069753"/>
            <a:ext cx="3988594" cy="1779984"/>
          </a:xfrm>
          <a:prstGeom prst="roundRect">
            <a:avLst>
              <a:gd name="adj" fmla="val 1064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4882307" y="2195959"/>
            <a:ext cx="3673078" cy="1527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className="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rounded-lg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shadow-md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p-4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bg-white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{children}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30800" y="3976241"/>
            <a:ext cx="3976092" cy="647402"/>
          </a:xfrm>
          <a:prstGeom prst="roundRect">
            <a:avLst>
              <a:gd name="adj" fmla="val 2925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006" y="4161681"/>
            <a:ext cx="157758" cy="12620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40970" y="4108996"/>
            <a:ext cx="343971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Tip:</a:t>
            </a: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Use CSS Modules for component libraries, Tailwind for rapid UI development.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43804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Hands-On Project: Reusable Card Component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487189"/>
            <a:ext cx="5348139" cy="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a flexible </a:t>
            </a:r>
            <a:r>
              <a:rPr lang="en-US" sz="5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Card</a:t>
            </a: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component from scratch — supporting any content, styled with CSS Modules, and reused across scenarios.</a:t>
            </a:r>
            <a:endParaRPr lang="en-US" sz="550" dirty="0"/>
          </a:p>
        </p:txBody>
      </p:sp>
      <p:grpSp>
        <p:nvGrpSpPr>
          <p:cNvPr id="22" name="Group 21"/>
          <p:cNvGrpSpPr/>
          <p:nvPr/>
        </p:nvGrpSpPr>
        <p:grpSpPr>
          <a:xfrm>
            <a:off x="5678119" y="3098335"/>
            <a:ext cx="3544089" cy="1856779"/>
            <a:chOff x="2211809" y="616818"/>
            <a:chExt cx="4720307" cy="2307282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1809" y="616818"/>
              <a:ext cx="4720307" cy="2307282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2569180" y="1410677"/>
              <a:ext cx="1100436" cy="1375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8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Create Card.jsx</a:t>
              </a:r>
              <a:endParaRPr lang="en-US" sz="8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4922354" y="882467"/>
              <a:ext cx="1118547" cy="1375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8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Add Card.module.css</a:t>
              </a:r>
              <a:endParaRPr lang="en-US" sz="8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474253" y="1968231"/>
              <a:ext cx="1100436" cy="1375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8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Compose in App.jsx</a:t>
              </a:r>
              <a:endParaRPr lang="en-US" sz="8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2616256" y="2506221"/>
              <a:ext cx="1500490" cy="1375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850" dirty="0">
                  <a:solidFill>
                    <a:srgbClr val="504C49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Extend with footer &amp; image</a:t>
              </a:r>
              <a:endParaRPr lang="en-US" sz="850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45043" y="625078"/>
            <a:ext cx="8892344" cy="2554523"/>
            <a:chOff x="2123033" y="2963912"/>
            <a:chExt cx="5351637" cy="2422997"/>
          </a:xfrm>
        </p:grpSpPr>
        <p:sp>
          <p:nvSpPr>
            <p:cNvPr id="9" name="Text 6"/>
            <p:cNvSpPr/>
            <p:nvPr/>
          </p:nvSpPr>
          <p:spPr>
            <a:xfrm>
              <a:off x="2126531" y="2963912"/>
              <a:ext cx="5348139" cy="850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latin typeface="Source Serif 4" pitchFamily="34" charset="0"/>
                  <a:ea typeface="Source Serif 4" pitchFamily="34" charset="-122"/>
                  <a:cs typeface="Source Serif 4" pitchFamily="34" charset="-120"/>
                </a:rPr>
                <a:t>Follow these four steps to go from a basic shell to a fully reusable, production-ready Card component.</a:t>
              </a:r>
              <a:endParaRPr lang="en-US" sz="5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2126531" y="3124200"/>
              <a:ext cx="1343174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201B18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Card.jsx</a:t>
              </a:r>
              <a:endParaRPr lang="en-US" sz="65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2123033" y="3274740"/>
              <a:ext cx="2365995" cy="1951885"/>
            </a:xfrm>
            <a:prstGeom prst="roundRect">
              <a:avLst>
                <a:gd name="adj" fmla="val 507"/>
              </a:avLst>
            </a:prstGeom>
            <a:solidFill>
              <a:srgbClr val="F2F2F2"/>
            </a:solidFill>
            <a:ln/>
          </p:spPr>
        </p:sp>
        <p:sp>
          <p:nvSpPr>
            <p:cNvPr id="13" name="Text 10"/>
            <p:cNvSpPr/>
            <p:nvPr/>
          </p:nvSpPr>
          <p:spPr>
            <a:xfrm>
              <a:off x="2211586" y="3345582"/>
              <a:ext cx="2188890" cy="19562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import styles from './Card.module.css';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function Card({ title, children, footer }) {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return (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&lt;div className={styles.card}&gt;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{title &amp;&amp; (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&lt;h3 className={styles.title}&gt;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{title}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&lt;/h3&gt;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)}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&lt;div className={styles.body}&gt;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{children}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&lt;/div&gt;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{footer &amp;&amp; (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&lt;div className={styles.footer}&gt;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 {footer}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&lt;/div&gt;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)}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&lt;/div&gt;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);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D73A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export default Card;</a:t>
              </a:r>
              <a:endParaRPr lang="en-US" sz="5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4663232" y="3124200"/>
              <a:ext cx="1343174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201B18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Card.module.css</a:t>
              </a:r>
              <a:endParaRPr lang="en-US" sz="65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659734" y="3274741"/>
              <a:ext cx="2365995" cy="1964245"/>
            </a:xfrm>
            <a:prstGeom prst="roundRect">
              <a:avLst>
                <a:gd name="adj" fmla="val 487"/>
              </a:avLst>
            </a:prstGeom>
            <a:solidFill>
              <a:srgbClr val="F2F2F2"/>
            </a:solidFill>
            <a:ln/>
          </p:spPr>
        </p:sp>
        <p:sp>
          <p:nvSpPr>
            <p:cNvPr id="17" name="Text 14"/>
            <p:cNvSpPr/>
            <p:nvPr/>
          </p:nvSpPr>
          <p:spPr>
            <a:xfrm>
              <a:off x="4748287" y="3345582"/>
              <a:ext cx="2188890" cy="20413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.card {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background: white;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border-radius: 12px;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box-shadow: 0 4px 12px rgba(0,0,0,0.08);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padding: 1.5rem;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max-width: 360px;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.title {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margin: 0 0 1rem;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font-size: 1.25rem;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color: #3E2513;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.body {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color: #555;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line-height: 1.6;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.footer {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margin-top: 1rem;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padding-top: 1rem;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border-top: 1px solid #eee;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005CC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55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50855" y="3405192"/>
            <a:ext cx="3774492" cy="1326208"/>
            <a:chOff x="2123033" y="5550694"/>
            <a:chExt cx="4897934" cy="1326208"/>
          </a:xfrm>
        </p:grpSpPr>
        <p:sp>
          <p:nvSpPr>
            <p:cNvPr id="18" name="Text 15"/>
            <p:cNvSpPr/>
            <p:nvPr/>
          </p:nvSpPr>
          <p:spPr>
            <a:xfrm>
              <a:off x="2126531" y="5550694"/>
              <a:ext cx="1630859" cy="110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650" dirty="0">
                  <a:solidFill>
                    <a:srgbClr val="201B18"/>
                  </a:solidFill>
                  <a:latin typeface="Platypi Medium" pitchFamily="34" charset="0"/>
                  <a:ea typeface="Platypi Medium" pitchFamily="34" charset="-122"/>
                  <a:cs typeface="Platypi Medium" pitchFamily="34" charset="-120"/>
                </a:rPr>
                <a:t>Using the Card Component</a:t>
              </a:r>
              <a:endParaRPr lang="en-US" sz="65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123033" y="5714554"/>
              <a:ext cx="4897934" cy="1162348"/>
            </a:xfrm>
            <a:prstGeom prst="roundRect">
              <a:avLst>
                <a:gd name="adj" fmla="val 915"/>
              </a:avLst>
            </a:prstGeom>
            <a:solidFill>
              <a:srgbClr val="F2F2F2"/>
            </a:solidFill>
            <a:ln/>
          </p:spPr>
        </p:sp>
        <p:sp>
          <p:nvSpPr>
            <p:cNvPr id="21" name="Text 18"/>
            <p:cNvSpPr/>
            <p:nvPr/>
          </p:nvSpPr>
          <p:spPr>
            <a:xfrm>
              <a:off x="2211586" y="5785396"/>
              <a:ext cx="4720828" cy="10206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&lt;Card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title="Product Card"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footer={&lt;Button&gt;Add to Cart&lt;/Button&gt;}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&lt;img src="/product.jpg" alt="Product" /&gt;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&lt;p&gt;A premium widget for your workflow.&lt;/p&gt;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&lt;/Card&gt;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&lt;Card title="User Profile"&gt;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&lt;Avatar src="/user.png" /&gt;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&lt;p&gt;Jane Doe · Software Engineer&lt;/p&gt;</a:t>
              </a:r>
              <a:endParaRPr lang="en-US" sz="550" dirty="0"/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550" dirty="0">
                  <a:solidFill>
                    <a:srgbClr val="504C49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&lt;/Card&gt;</a:t>
              </a:r>
              <a:endParaRPr lang="en-US" sz="55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392"/>
            <a:ext cx="50940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Summary &amp; Best Practices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6889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takeaways to carry into every React project.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555179"/>
            <a:ext cx="2622724" cy="1615455"/>
          </a:xfrm>
          <a:prstGeom prst="roundRect">
            <a:avLst>
              <a:gd name="adj" fmla="val 1316"/>
            </a:avLst>
          </a:prstGeom>
          <a:solidFill>
            <a:srgbClr val="F9F7F7"/>
          </a:solidFill>
          <a:ln/>
        </p:spPr>
      </p:sp>
      <p:sp>
        <p:nvSpPr>
          <p:cNvPr id="5" name="Shape 3"/>
          <p:cNvSpPr/>
          <p:nvPr/>
        </p:nvSpPr>
        <p:spPr>
          <a:xfrm>
            <a:off x="637877" y="169693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54856" y="1813843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877" y="2263973"/>
            <a:ext cx="22269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Compose, Don't Duplicate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2570485"/>
            <a:ext cx="2339206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Break UIs into small components combined via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0601" y="1555179"/>
            <a:ext cx="2622724" cy="1615455"/>
          </a:xfrm>
          <a:prstGeom prst="roundRect">
            <a:avLst>
              <a:gd name="adj" fmla="val 1316"/>
            </a:avLst>
          </a:prstGeom>
          <a:solidFill>
            <a:srgbClr val="F9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3402360" y="169693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519339" y="1813843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2360" y="2263973"/>
            <a:ext cx="19628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Lift State Strategically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02360" y="2570485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Move shared state to the nearest common parent — no higher.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25083" y="1555179"/>
            <a:ext cx="2622724" cy="1615455"/>
          </a:xfrm>
          <a:prstGeom prst="roundRect">
            <a:avLst>
              <a:gd name="adj" fmla="val 1316"/>
            </a:avLst>
          </a:prstGeom>
          <a:solidFill>
            <a:srgbClr val="F9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6166842" y="169693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283821" y="1813843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6842" y="2263973"/>
            <a:ext cx="21233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Avoid Deep Prop Drilling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66842" y="2570485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More than 2–3 levels? Reach for Context API or restructure.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6119" y="3312393"/>
            <a:ext cx="4004965" cy="1388641"/>
          </a:xfrm>
          <a:prstGeom prst="roundRect">
            <a:avLst>
              <a:gd name="adj" fmla="val 1531"/>
            </a:avLst>
          </a:prstGeom>
          <a:solidFill>
            <a:srgbClr val="F9F7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37877" y="3454152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54856" y="3571056"/>
            <a:ext cx="191319" cy="1913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7877" y="4021187"/>
            <a:ext cx="2603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Design Clear Component APIs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7877" y="4327699"/>
            <a:ext cx="372144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props,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and defaults for flexibility.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42842" y="3312393"/>
            <a:ext cx="4004965" cy="1388641"/>
          </a:xfrm>
          <a:prstGeom prst="roundRect">
            <a:avLst>
              <a:gd name="adj" fmla="val 1531"/>
            </a:avLst>
          </a:prstGeom>
          <a:solidFill>
            <a:srgbClr val="F9F7F7"/>
          </a:solidFill>
          <a:ln/>
        </p:spPr>
      </p:sp>
      <p:sp>
        <p:nvSpPr>
          <p:cNvPr id="25" name="Shape 19"/>
          <p:cNvSpPr/>
          <p:nvPr/>
        </p:nvSpPr>
        <p:spPr>
          <a:xfrm>
            <a:off x="4784601" y="3454152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3E251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901580" y="3571056"/>
            <a:ext cx="191319" cy="1913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84601" y="40211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Style Consistently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84601" y="4327699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Pick CSS Modules or Tailwind — apply it uniformly.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1149</Words>
  <Application>Microsoft Office PowerPoint</Application>
  <PresentationFormat>On-screen Show (16:9)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Arial</vt:lpstr>
      <vt:lpstr>Platypi Medium</vt:lpstr>
      <vt:lpstr>Platypi Light</vt:lpstr>
      <vt:lpstr>Source Serif 4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Avinash Dubakula</cp:lastModifiedBy>
  <cp:revision>3</cp:revision>
  <dcterms:created xsi:type="dcterms:W3CDTF">2026-06-09T10:23:55Z</dcterms:created>
  <dcterms:modified xsi:type="dcterms:W3CDTF">2026-06-09T12:32:12Z</dcterms:modified>
</cp:coreProperties>
</file>